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x="18288000" cy="10287000"/>
  <p:notesSz cx="6858000" cy="9144000"/>
  <p:embeddedFontLst>
    <p:embeddedFont>
      <p:font typeface="Hind Siliguri" charset="1" panose="02000000000000000000"/>
      <p:regular r:id="rId30"/>
    </p:embeddedFont>
    <p:embeddedFont>
      <p:font typeface="TT Chocolates Bold Italics" charset="1" panose="02000803030000090003"/>
      <p:regular r:id="rId31"/>
    </p:embeddedFont>
    <p:embeddedFont>
      <p:font typeface="TT Chocolates Bold" charset="1" panose="02000803020000020003"/>
      <p:regular r:id="rId32"/>
    </p:embeddedFont>
    <p:embeddedFont>
      <p:font typeface="Be Vietnam Ultra-Bold" charset="1" panose="00000900000000000000"/>
      <p:regular r:id="rId33"/>
    </p:embeddedFont>
    <p:embeddedFont>
      <p:font typeface="Be Vietnam" charset="1" panose="00000500000000000000"/>
      <p:regular r:id="rId34"/>
    </p:embeddedFont>
    <p:embeddedFont>
      <p:font typeface="Open Sans" charset="1" panose="020B0606030504020204"/>
      <p:regular r:id="rId35"/>
    </p:embeddedFont>
    <p:embeddedFont>
      <p:font typeface="Be Vietnam Medium" charset="1" panose="00000600000000000000"/>
      <p:regular r:id="rId36"/>
    </p:embeddedFont>
    <p:embeddedFont>
      <p:font typeface="Open Sans Bold" charset="1" panose="020B0806030504020204"/>
      <p:regular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6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3.pn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5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6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7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8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9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0.png" Type="http://schemas.openxmlformats.org/officeDocument/2006/relationships/image"/><Relationship Id="rId4" Target="https://espe-team-f85h88la.atlassian.net/wiki/spaces/GMGDC/overview" TargetMode="External" Type="http://schemas.openxmlformats.org/officeDocument/2006/relationships/hyperlink"/><Relationship Id="rId5" Target="../media/image21.png" Type="http://schemas.openxmlformats.org/officeDocument/2006/relationships/image"/><Relationship Id="rId6" Target="https://espe-team-f85h88la.atlassian.net/jira/software/projects/SCRUM/boards/1" TargetMode="External" Type="http://schemas.openxmlformats.org/officeDocument/2006/relationships/hyperlink"/><Relationship Id="rId7" Target="https://docs.google.com/spreadsheets/d/1jfnKVG45wGdtmWYqe_DCzuwmo5bayzSzI_mx2AjzOtw/edit?gid=1334552321#gid=1334552321" TargetMode="External" Type="http://schemas.openxmlformats.org/officeDocument/2006/relationships/hyperlink"/><Relationship Id="rId8" Target="https://github.com/Kevinkh18/29022_G3_METDSW/blob/main/PREGAME/1.4%20ACTAS%20DE%20REUNION/Links%20de%20los%20videos.pdf" TargetMode="External" Type="http://schemas.openxmlformats.org/officeDocument/2006/relationships/hyperlink"/><Relationship Id="rId9" Target="https://github.com/Kevinkh18/29022_G3_METDSW/blob/main/PREGAME/1.4%20ACTAS%20DE%20REUNION/Links%20de%20los%20videos.pdf" TargetMode="External" Type="http://schemas.openxmlformats.org/officeDocument/2006/relationships/hyperlink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.svg" Type="http://schemas.openxmlformats.org/officeDocument/2006/relationships/image"/><Relationship Id="rId11" Target="../media/image30.png" Type="http://schemas.openxmlformats.org/officeDocument/2006/relationships/image"/><Relationship Id="rId12" Target="../media/image31.svg" Type="http://schemas.openxmlformats.org/officeDocument/2006/relationships/image"/><Relationship Id="rId13" Target="../media/image32.png" Type="http://schemas.openxmlformats.org/officeDocument/2006/relationships/image"/><Relationship Id="rId14" Target="../media/image33.svg" Type="http://schemas.openxmlformats.org/officeDocument/2006/relationships/image"/><Relationship Id="rId15" Target="../media/image34.png" Type="http://schemas.openxmlformats.org/officeDocument/2006/relationships/image"/><Relationship Id="rId16" Target="../media/image35.svg" Type="http://schemas.openxmlformats.org/officeDocument/2006/relationships/image"/><Relationship Id="rId17" Target="../media/image36.png" Type="http://schemas.openxmlformats.org/officeDocument/2006/relationships/image"/><Relationship Id="rId18" Target="../media/image37.svg" Type="http://schemas.openxmlformats.org/officeDocument/2006/relationships/image"/><Relationship Id="rId19" Target="../media/image38.png" Type="http://schemas.openxmlformats.org/officeDocument/2006/relationships/image"/><Relationship Id="rId2" Target="../media/image1.png" Type="http://schemas.openxmlformats.org/officeDocument/2006/relationships/image"/><Relationship Id="rId20" Target="../media/image39.svg" Type="http://schemas.openxmlformats.org/officeDocument/2006/relationships/image"/><Relationship Id="rId21" Target="../media/image40.png" Type="http://schemas.openxmlformats.org/officeDocument/2006/relationships/image"/><Relationship Id="rId22" Target="../media/image41.svg" Type="http://schemas.openxmlformats.org/officeDocument/2006/relationships/image"/><Relationship Id="rId23" Target="../media/image42.png" Type="http://schemas.openxmlformats.org/officeDocument/2006/relationships/image"/><Relationship Id="rId24" Target="../media/image43.svg" Type="http://schemas.openxmlformats.org/officeDocument/2006/relationships/image"/><Relationship Id="rId25" Target="../media/image44.png" Type="http://schemas.openxmlformats.org/officeDocument/2006/relationships/image"/><Relationship Id="rId26" Target="../media/image45.svg" Type="http://schemas.openxmlformats.org/officeDocument/2006/relationships/image"/><Relationship Id="rId27" Target="../media/image46.png" Type="http://schemas.openxmlformats.org/officeDocument/2006/relationships/image"/><Relationship Id="rId28" Target="../media/image47.svg" Type="http://schemas.openxmlformats.org/officeDocument/2006/relationships/image"/><Relationship Id="rId29" Target="../media/image48.png" Type="http://schemas.openxmlformats.org/officeDocument/2006/relationships/image"/><Relationship Id="rId3" Target="../media/image22.png" Type="http://schemas.openxmlformats.org/officeDocument/2006/relationships/image"/><Relationship Id="rId30" Target="../media/image49.svg" Type="http://schemas.openxmlformats.org/officeDocument/2006/relationships/image"/><Relationship Id="rId31" Target="../media/image50.png" Type="http://schemas.openxmlformats.org/officeDocument/2006/relationships/image"/><Relationship Id="rId32" Target="../media/image51.svg" Type="http://schemas.openxmlformats.org/officeDocument/2006/relationships/image"/><Relationship Id="rId33" Target="../media/image52.png" Type="http://schemas.openxmlformats.org/officeDocument/2006/relationships/image"/><Relationship Id="rId34" Target="../media/image53.svg" Type="http://schemas.openxmlformats.org/officeDocument/2006/relationships/image"/><Relationship Id="rId35" Target="../media/image54.png" Type="http://schemas.openxmlformats.org/officeDocument/2006/relationships/image"/><Relationship Id="rId36" Target="../media/image55.svg" Type="http://schemas.openxmlformats.org/officeDocument/2006/relationships/image"/><Relationship Id="rId37" Target="../media/image56.png" Type="http://schemas.openxmlformats.org/officeDocument/2006/relationships/image"/><Relationship Id="rId38" Target="../media/image57.svg" Type="http://schemas.openxmlformats.org/officeDocument/2006/relationships/image"/><Relationship Id="rId39" Target="../media/image58.png" Type="http://schemas.openxmlformats.org/officeDocument/2006/relationships/image"/><Relationship Id="rId4" Target="../media/image23.svg" Type="http://schemas.openxmlformats.org/officeDocument/2006/relationships/image"/><Relationship Id="rId40" Target="../media/image59.svg" Type="http://schemas.openxmlformats.org/officeDocument/2006/relationships/image"/><Relationship Id="rId41" Target="../media/image60.png" Type="http://schemas.openxmlformats.org/officeDocument/2006/relationships/image"/><Relationship Id="rId42" Target="../media/image61.svg" Type="http://schemas.openxmlformats.org/officeDocument/2006/relationships/image"/><Relationship Id="rId43" Target="../media/image62.png" Type="http://schemas.openxmlformats.org/officeDocument/2006/relationships/image"/><Relationship Id="rId44" Target="../media/image63.svg" Type="http://schemas.openxmlformats.org/officeDocument/2006/relationships/image"/><Relationship Id="rId45" Target="../media/image64.png" Type="http://schemas.openxmlformats.org/officeDocument/2006/relationships/image"/><Relationship Id="rId46" Target="../media/image65.svg" Type="http://schemas.openxmlformats.org/officeDocument/2006/relationships/image"/><Relationship Id="rId47" Target="../media/image66.png" Type="http://schemas.openxmlformats.org/officeDocument/2006/relationships/image"/><Relationship Id="rId48" Target="../media/image67.svg" Type="http://schemas.openxmlformats.org/officeDocument/2006/relationships/image"/><Relationship Id="rId49" Target="../media/image68.png" Type="http://schemas.openxmlformats.org/officeDocument/2006/relationships/image"/><Relationship Id="rId5" Target="../media/image24.png" Type="http://schemas.openxmlformats.org/officeDocument/2006/relationships/image"/><Relationship Id="rId50" Target="../media/image69.svg" Type="http://schemas.openxmlformats.org/officeDocument/2006/relationships/image"/><Relationship Id="rId51" Target="../media/image70.png" Type="http://schemas.openxmlformats.org/officeDocument/2006/relationships/image"/><Relationship Id="rId52" Target="../media/image71.svg" Type="http://schemas.openxmlformats.org/officeDocument/2006/relationships/image"/><Relationship Id="rId53" Target="../media/image72.png" Type="http://schemas.openxmlformats.org/officeDocument/2006/relationships/image"/><Relationship Id="rId54" Target="../media/image73.svg" Type="http://schemas.openxmlformats.org/officeDocument/2006/relationships/image"/><Relationship Id="rId55" Target="../media/image74.png" Type="http://schemas.openxmlformats.org/officeDocument/2006/relationships/image"/><Relationship Id="rId56" Target="../media/image75.svg" Type="http://schemas.openxmlformats.org/officeDocument/2006/relationships/image"/><Relationship Id="rId57" Target="../media/image76.png" Type="http://schemas.openxmlformats.org/officeDocument/2006/relationships/image"/><Relationship Id="rId58" Target="../media/image77.svg" Type="http://schemas.openxmlformats.org/officeDocument/2006/relationships/image"/><Relationship Id="rId59" Target="../media/image78.png" Type="http://schemas.openxmlformats.org/officeDocument/2006/relationships/image"/><Relationship Id="rId6" Target="../media/image25.svg" Type="http://schemas.openxmlformats.org/officeDocument/2006/relationships/image"/><Relationship Id="rId60" Target="../media/image79.svg" Type="http://schemas.openxmlformats.org/officeDocument/2006/relationships/image"/><Relationship Id="rId61" Target="../media/image80.png" Type="http://schemas.openxmlformats.org/officeDocument/2006/relationships/image"/><Relationship Id="rId62" Target="../media/image81.svg" Type="http://schemas.openxmlformats.org/officeDocument/2006/relationships/image"/><Relationship Id="rId63" Target="../media/image82.png" Type="http://schemas.openxmlformats.org/officeDocument/2006/relationships/image"/><Relationship Id="rId64" Target="../media/image83.svg" Type="http://schemas.openxmlformats.org/officeDocument/2006/relationships/image"/><Relationship Id="rId65" Target="../media/image84.png" Type="http://schemas.openxmlformats.org/officeDocument/2006/relationships/image"/><Relationship Id="rId66" Target="../media/image85.svg" Type="http://schemas.openxmlformats.org/officeDocument/2006/relationships/image"/><Relationship Id="rId67" Target="../media/image86.png" Type="http://schemas.openxmlformats.org/officeDocument/2006/relationships/image"/><Relationship Id="rId68" Target="../media/image87.svg" Type="http://schemas.openxmlformats.org/officeDocument/2006/relationships/image"/><Relationship Id="rId69" Target="../media/image88.png" Type="http://schemas.openxmlformats.org/officeDocument/2006/relationships/image"/><Relationship Id="rId7" Target="../media/image26.png" Type="http://schemas.openxmlformats.org/officeDocument/2006/relationships/image"/><Relationship Id="rId70" Target="../media/image89.svg" Type="http://schemas.openxmlformats.org/officeDocument/2006/relationships/image"/><Relationship Id="rId71" Target="../media/image90.png" Type="http://schemas.openxmlformats.org/officeDocument/2006/relationships/image"/><Relationship Id="rId72" Target="../media/image91.svg" Type="http://schemas.openxmlformats.org/officeDocument/2006/relationships/image"/><Relationship Id="rId8" Target="../media/image27.svg" Type="http://schemas.openxmlformats.org/officeDocument/2006/relationships/image"/><Relationship Id="rId9" Target="../media/image2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9222" t="-4461" r="-20094" b="-4717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689571">
            <a:off x="12939732" y="-1577438"/>
            <a:ext cx="3086100" cy="7144088"/>
            <a:chOff x="0" y="0"/>
            <a:chExt cx="812800" cy="188157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1881571"/>
            </a:xfrm>
            <a:custGeom>
              <a:avLst/>
              <a:gdLst/>
              <a:ahLst/>
              <a:cxnLst/>
              <a:rect r="r" b="b" t="t" l="l"/>
              <a:pathLst>
                <a:path h="1881571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881571"/>
                  </a:lnTo>
                  <a:lnTo>
                    <a:pt x="0" y="1881571"/>
                  </a:lnTo>
                  <a:close/>
                </a:path>
              </a:pathLst>
            </a:custGeom>
            <a:solidFill>
              <a:srgbClr val="26226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812800" cy="19291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true" rot="0">
            <a:off x="11582150" y="-457538"/>
            <a:ext cx="7026757" cy="11202077"/>
          </a:xfrm>
          <a:custGeom>
            <a:avLst/>
            <a:gdLst/>
            <a:ahLst/>
            <a:cxnLst/>
            <a:rect r="r" b="b" t="t" l="l"/>
            <a:pathLst>
              <a:path h="11202077" w="7026757">
                <a:moveTo>
                  <a:pt x="0" y="11202076"/>
                </a:moveTo>
                <a:lnTo>
                  <a:pt x="7026757" y="11202076"/>
                </a:lnTo>
                <a:lnTo>
                  <a:pt x="7026757" y="0"/>
                </a:lnTo>
                <a:lnTo>
                  <a:pt x="0" y="0"/>
                </a:lnTo>
                <a:lnTo>
                  <a:pt x="0" y="1120207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489928" y="3335547"/>
            <a:ext cx="11132996" cy="4352505"/>
            <a:chOff x="0" y="0"/>
            <a:chExt cx="3498255" cy="136766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498255" cy="1367661"/>
            </a:xfrm>
            <a:custGeom>
              <a:avLst/>
              <a:gdLst/>
              <a:ahLst/>
              <a:cxnLst/>
              <a:rect r="r" b="b" t="t" l="l"/>
              <a:pathLst>
                <a:path h="1367661" w="3498255">
                  <a:moveTo>
                    <a:pt x="9736" y="0"/>
                  </a:moveTo>
                  <a:lnTo>
                    <a:pt x="3488519" y="0"/>
                  </a:lnTo>
                  <a:cubicBezTo>
                    <a:pt x="3493896" y="0"/>
                    <a:pt x="3498255" y="4359"/>
                    <a:pt x="3498255" y="9736"/>
                  </a:cubicBezTo>
                  <a:lnTo>
                    <a:pt x="3498255" y="1357926"/>
                  </a:lnTo>
                  <a:cubicBezTo>
                    <a:pt x="3498255" y="1363303"/>
                    <a:pt x="3493896" y="1367661"/>
                    <a:pt x="3488519" y="1367661"/>
                  </a:cubicBezTo>
                  <a:lnTo>
                    <a:pt x="9736" y="1367661"/>
                  </a:lnTo>
                  <a:cubicBezTo>
                    <a:pt x="4359" y="1367661"/>
                    <a:pt x="0" y="1363303"/>
                    <a:pt x="0" y="1357926"/>
                  </a:cubicBezTo>
                  <a:lnTo>
                    <a:pt x="0" y="9736"/>
                  </a:lnTo>
                  <a:cubicBezTo>
                    <a:pt x="0" y="4359"/>
                    <a:pt x="4359" y="0"/>
                    <a:pt x="973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" cap="sq">
              <a:solidFill>
                <a:srgbClr val="195759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3498255" cy="14152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3801912" y="1028700"/>
            <a:ext cx="2587233" cy="2587233"/>
          </a:xfrm>
          <a:custGeom>
            <a:avLst/>
            <a:gdLst/>
            <a:ahLst/>
            <a:cxnLst/>
            <a:rect r="r" b="b" t="t" l="l"/>
            <a:pathLst>
              <a:path h="2587233" w="2587233">
                <a:moveTo>
                  <a:pt x="0" y="0"/>
                </a:moveTo>
                <a:lnTo>
                  <a:pt x="2587233" y="0"/>
                </a:lnTo>
                <a:lnTo>
                  <a:pt x="2587233" y="2587233"/>
                </a:lnTo>
                <a:lnTo>
                  <a:pt x="0" y="258723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080324" y="3970125"/>
            <a:ext cx="5952205" cy="154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75"/>
              </a:lnSpc>
              <a:spcBef>
                <a:spcPct val="0"/>
              </a:spcBef>
            </a:pPr>
            <a:r>
              <a:rPr lang="en-US" sz="9054">
                <a:solidFill>
                  <a:srgbClr val="33326B"/>
                </a:solidFill>
                <a:latin typeface="Hind Siliguri"/>
                <a:ea typeface="Hind Siliguri"/>
                <a:cs typeface="Hind Siliguri"/>
                <a:sym typeface="Hind Siliguri"/>
              </a:rPr>
              <a:t>PROYECTO: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201863" y="5757762"/>
            <a:ext cx="9709128" cy="1028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2"/>
              </a:lnSpc>
              <a:spcBef>
                <a:spcPct val="0"/>
              </a:spcBef>
            </a:pPr>
            <a:r>
              <a:rPr lang="en-US" b="true" sz="6001" i="true">
                <a:solidFill>
                  <a:srgbClr val="33326B"/>
                </a:solidFill>
                <a:latin typeface="TT Chocolates Bold Italics"/>
                <a:ea typeface="TT Chocolates Bold Italics"/>
                <a:cs typeface="TT Chocolates Bold Italics"/>
                <a:sym typeface="TT Chocolates Bold Italics"/>
              </a:rPr>
              <a:t>GESTIÓN DE FIDEICOMISOS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027462" y="1066800"/>
            <a:ext cx="9878497" cy="1416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99"/>
              </a:lnSpc>
            </a:pPr>
            <a:r>
              <a:rPr lang="en-US" b="true" sz="4999">
                <a:solidFill>
                  <a:srgbClr val="33326B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UNIVERSIDAD DE LAS FUERZAS ARMADAS ESPE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13384" y="8069052"/>
            <a:ext cx="10797606" cy="1384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499" b="true">
                <a:solidFill>
                  <a:srgbClr val="33326B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Nrc: 29022</a:t>
            </a:r>
          </a:p>
          <a:p>
            <a:pPr algn="l">
              <a:lnSpc>
                <a:spcPts val="2749"/>
              </a:lnSpc>
            </a:pPr>
            <a:r>
              <a:rPr lang="en-US" sz="2499" b="true">
                <a:solidFill>
                  <a:srgbClr val="33326B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Grupo 03</a:t>
            </a:r>
          </a:p>
          <a:p>
            <a:pPr algn="l">
              <a:lnSpc>
                <a:spcPts val="2749"/>
              </a:lnSpc>
            </a:pPr>
            <a:r>
              <a:rPr lang="en-US" sz="2499" b="true">
                <a:solidFill>
                  <a:srgbClr val="33326B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Integrantes: </a:t>
            </a:r>
          </a:p>
          <a:p>
            <a:pPr algn="l">
              <a:lnSpc>
                <a:spcPts val="2749"/>
              </a:lnSpc>
            </a:pPr>
            <a:r>
              <a:rPr lang="en-US" sz="2499" b="true">
                <a:solidFill>
                  <a:srgbClr val="33326B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Kevin Andino  - Luis Calle - Denisse Quishpe - Madellyn Tasipanta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9222" t="-4461" r="-20094" b="-471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497142" y="3074272"/>
            <a:ext cx="5143655" cy="405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2"/>
              </a:lnSpc>
              <a:spcBef>
                <a:spcPct val="0"/>
              </a:spcBef>
            </a:pPr>
            <a:r>
              <a:rPr lang="en-US" sz="2394" b="true">
                <a:solidFill>
                  <a:srgbClr val="01003B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Contexto del Proyecto</a:t>
            </a:r>
          </a:p>
        </p:txBody>
      </p:sp>
      <p:grpSp>
        <p:nvGrpSpPr>
          <p:cNvPr name="Group 4" id="4"/>
          <p:cNvGrpSpPr/>
          <p:nvPr/>
        </p:nvGrpSpPr>
        <p:grpSpPr>
          <a:xfrm rot="-10800000">
            <a:off x="883625" y="2733498"/>
            <a:ext cx="1391113" cy="1349481"/>
            <a:chOff x="0" y="0"/>
            <a:chExt cx="537407" cy="52132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37407" cy="521324"/>
            </a:xfrm>
            <a:custGeom>
              <a:avLst/>
              <a:gdLst/>
              <a:ahLst/>
              <a:cxnLst/>
              <a:rect r="r" b="b" t="t" l="l"/>
              <a:pathLst>
                <a:path h="521324" w="537407">
                  <a:moveTo>
                    <a:pt x="77914" y="0"/>
                  </a:moveTo>
                  <a:lnTo>
                    <a:pt x="459494" y="0"/>
                  </a:lnTo>
                  <a:cubicBezTo>
                    <a:pt x="502524" y="0"/>
                    <a:pt x="537407" y="34883"/>
                    <a:pt x="537407" y="77914"/>
                  </a:cubicBezTo>
                  <a:lnTo>
                    <a:pt x="537407" y="443410"/>
                  </a:lnTo>
                  <a:cubicBezTo>
                    <a:pt x="537407" y="486441"/>
                    <a:pt x="502524" y="521324"/>
                    <a:pt x="459494" y="521324"/>
                  </a:cubicBezTo>
                  <a:lnTo>
                    <a:pt x="77914" y="521324"/>
                  </a:lnTo>
                  <a:cubicBezTo>
                    <a:pt x="34883" y="521324"/>
                    <a:pt x="0" y="486441"/>
                    <a:pt x="0" y="443410"/>
                  </a:cubicBezTo>
                  <a:lnTo>
                    <a:pt x="0" y="77914"/>
                  </a:lnTo>
                  <a:cubicBezTo>
                    <a:pt x="0" y="34883"/>
                    <a:pt x="34883" y="0"/>
                    <a:pt x="7791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8CFAE">
                    <a:alpha val="100000"/>
                  </a:srgbClr>
                </a:gs>
                <a:gs pos="100000">
                  <a:srgbClr val="006D83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37407" cy="5689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19756">
            <a:off x="708119" y="2605148"/>
            <a:ext cx="1742891" cy="1202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853"/>
              </a:lnSpc>
              <a:spcBef>
                <a:spcPct val="0"/>
              </a:spcBef>
            </a:pPr>
            <a:r>
              <a:rPr lang="en-US" b="true" sz="7038" spc="415" strike="noStrike" u="none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01</a:t>
            </a:r>
          </a:p>
        </p:txBody>
      </p:sp>
      <p:sp>
        <p:nvSpPr>
          <p:cNvPr name="TextBox 8" id="8"/>
          <p:cNvSpPr txBox="true"/>
          <p:nvPr/>
        </p:nvSpPr>
        <p:spPr>
          <a:xfrm rot="19756">
            <a:off x="2533385" y="4688538"/>
            <a:ext cx="5139970" cy="405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2"/>
              </a:lnSpc>
              <a:spcBef>
                <a:spcPct val="0"/>
              </a:spcBef>
            </a:pPr>
            <a:r>
              <a:rPr lang="en-US" sz="2394" b="true">
                <a:solidFill>
                  <a:srgbClr val="01003B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Roles de Trabajo</a:t>
            </a:r>
          </a:p>
        </p:txBody>
      </p:sp>
      <p:grpSp>
        <p:nvGrpSpPr>
          <p:cNvPr name="Group 9" id="9"/>
          <p:cNvGrpSpPr/>
          <p:nvPr/>
        </p:nvGrpSpPr>
        <p:grpSpPr>
          <a:xfrm rot="-10800000">
            <a:off x="883625" y="4240565"/>
            <a:ext cx="1391113" cy="1349481"/>
            <a:chOff x="0" y="0"/>
            <a:chExt cx="537407" cy="52132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7407" cy="521324"/>
            </a:xfrm>
            <a:custGeom>
              <a:avLst/>
              <a:gdLst/>
              <a:ahLst/>
              <a:cxnLst/>
              <a:rect r="r" b="b" t="t" l="l"/>
              <a:pathLst>
                <a:path h="521324" w="537407">
                  <a:moveTo>
                    <a:pt x="77914" y="0"/>
                  </a:moveTo>
                  <a:lnTo>
                    <a:pt x="459494" y="0"/>
                  </a:lnTo>
                  <a:cubicBezTo>
                    <a:pt x="502524" y="0"/>
                    <a:pt x="537407" y="34883"/>
                    <a:pt x="537407" y="77914"/>
                  </a:cubicBezTo>
                  <a:lnTo>
                    <a:pt x="537407" y="443410"/>
                  </a:lnTo>
                  <a:cubicBezTo>
                    <a:pt x="537407" y="486441"/>
                    <a:pt x="502524" y="521324"/>
                    <a:pt x="459494" y="521324"/>
                  </a:cubicBezTo>
                  <a:lnTo>
                    <a:pt x="77914" y="521324"/>
                  </a:lnTo>
                  <a:cubicBezTo>
                    <a:pt x="34883" y="521324"/>
                    <a:pt x="0" y="486441"/>
                    <a:pt x="0" y="443410"/>
                  </a:cubicBezTo>
                  <a:lnTo>
                    <a:pt x="0" y="77914"/>
                  </a:lnTo>
                  <a:cubicBezTo>
                    <a:pt x="0" y="34883"/>
                    <a:pt x="34883" y="0"/>
                    <a:pt x="7791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8CFAE">
                    <a:alpha val="100000"/>
                  </a:srgbClr>
                </a:gs>
                <a:gs pos="100000">
                  <a:srgbClr val="006D83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537407" cy="5689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19756">
            <a:off x="708119" y="4113378"/>
            <a:ext cx="1742891" cy="1202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53"/>
              </a:lnSpc>
              <a:spcBef>
                <a:spcPct val="0"/>
              </a:spcBef>
            </a:pPr>
            <a:r>
              <a:rPr lang="en-US" b="true" sz="7038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02</a:t>
            </a:r>
          </a:p>
        </p:txBody>
      </p:sp>
      <p:sp>
        <p:nvSpPr>
          <p:cNvPr name="TextBox 13" id="13"/>
          <p:cNvSpPr txBox="true"/>
          <p:nvPr/>
        </p:nvSpPr>
        <p:spPr>
          <a:xfrm rot="19756">
            <a:off x="9829263" y="3059667"/>
            <a:ext cx="5083827" cy="405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2"/>
              </a:lnSpc>
              <a:spcBef>
                <a:spcPct val="0"/>
              </a:spcBef>
            </a:pPr>
            <a:r>
              <a:rPr lang="en-US" sz="2394" b="true">
                <a:solidFill>
                  <a:srgbClr val="01003B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Alcance Y Ideas A Defender</a:t>
            </a:r>
          </a:p>
        </p:txBody>
      </p:sp>
      <p:grpSp>
        <p:nvGrpSpPr>
          <p:cNvPr name="Group 14" id="14"/>
          <p:cNvGrpSpPr/>
          <p:nvPr/>
        </p:nvGrpSpPr>
        <p:grpSpPr>
          <a:xfrm rot="-10800000">
            <a:off x="883625" y="5751971"/>
            <a:ext cx="1391113" cy="1349481"/>
            <a:chOff x="0" y="0"/>
            <a:chExt cx="537407" cy="52132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37407" cy="521324"/>
            </a:xfrm>
            <a:custGeom>
              <a:avLst/>
              <a:gdLst/>
              <a:ahLst/>
              <a:cxnLst/>
              <a:rect r="r" b="b" t="t" l="l"/>
              <a:pathLst>
                <a:path h="521324" w="537407">
                  <a:moveTo>
                    <a:pt x="77914" y="0"/>
                  </a:moveTo>
                  <a:lnTo>
                    <a:pt x="459494" y="0"/>
                  </a:lnTo>
                  <a:cubicBezTo>
                    <a:pt x="502524" y="0"/>
                    <a:pt x="537407" y="34883"/>
                    <a:pt x="537407" y="77914"/>
                  </a:cubicBezTo>
                  <a:lnTo>
                    <a:pt x="537407" y="443410"/>
                  </a:lnTo>
                  <a:cubicBezTo>
                    <a:pt x="537407" y="486441"/>
                    <a:pt x="502524" y="521324"/>
                    <a:pt x="459494" y="521324"/>
                  </a:cubicBezTo>
                  <a:lnTo>
                    <a:pt x="77914" y="521324"/>
                  </a:lnTo>
                  <a:cubicBezTo>
                    <a:pt x="34883" y="521324"/>
                    <a:pt x="0" y="486441"/>
                    <a:pt x="0" y="443410"/>
                  </a:cubicBezTo>
                  <a:lnTo>
                    <a:pt x="0" y="77914"/>
                  </a:lnTo>
                  <a:cubicBezTo>
                    <a:pt x="0" y="34883"/>
                    <a:pt x="34883" y="0"/>
                    <a:pt x="7791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8CFAE">
                    <a:alpha val="100000"/>
                  </a:srgbClr>
                </a:gs>
                <a:gs pos="100000">
                  <a:srgbClr val="006D83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537407" cy="5689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19756">
            <a:off x="708119" y="5649824"/>
            <a:ext cx="1742891" cy="1202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53"/>
              </a:lnSpc>
              <a:spcBef>
                <a:spcPct val="0"/>
              </a:spcBef>
            </a:pPr>
            <a:r>
              <a:rPr lang="en-US" b="true" sz="7038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03</a:t>
            </a:r>
          </a:p>
        </p:txBody>
      </p:sp>
      <p:sp>
        <p:nvSpPr>
          <p:cNvPr name="TextBox 18" id="18"/>
          <p:cNvSpPr txBox="true"/>
          <p:nvPr/>
        </p:nvSpPr>
        <p:spPr>
          <a:xfrm rot="19756">
            <a:off x="9964347" y="7604685"/>
            <a:ext cx="5606756" cy="405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2"/>
              </a:lnSpc>
              <a:spcBef>
                <a:spcPct val="0"/>
              </a:spcBef>
            </a:pPr>
            <a:r>
              <a:rPr lang="en-US" sz="2394" b="true">
                <a:solidFill>
                  <a:srgbClr val="01003B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Conclusión y recomendación </a:t>
            </a:r>
          </a:p>
        </p:txBody>
      </p:sp>
      <p:sp>
        <p:nvSpPr>
          <p:cNvPr name="TextBox 19" id="19"/>
          <p:cNvSpPr txBox="true"/>
          <p:nvPr/>
        </p:nvSpPr>
        <p:spPr>
          <a:xfrm rot="19756">
            <a:off x="9829260" y="4530951"/>
            <a:ext cx="5478094" cy="405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2"/>
              </a:lnSpc>
              <a:spcBef>
                <a:spcPct val="0"/>
              </a:spcBef>
            </a:pPr>
            <a:r>
              <a:rPr lang="en-US" sz="2394" b="true">
                <a:solidFill>
                  <a:srgbClr val="01003B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Resultados esperados</a:t>
            </a:r>
          </a:p>
        </p:txBody>
      </p:sp>
      <p:sp>
        <p:nvSpPr>
          <p:cNvPr name="TextBox 20" id="20"/>
          <p:cNvSpPr txBox="true"/>
          <p:nvPr/>
        </p:nvSpPr>
        <p:spPr>
          <a:xfrm rot="19756">
            <a:off x="9837797" y="6004330"/>
            <a:ext cx="5733307" cy="405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2"/>
              </a:lnSpc>
              <a:spcBef>
                <a:spcPct val="0"/>
              </a:spcBef>
            </a:pPr>
            <a:r>
              <a:rPr lang="en-US" sz="2394" b="true">
                <a:solidFill>
                  <a:srgbClr val="01003B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Backlog y Diagramas de uso</a:t>
            </a:r>
          </a:p>
        </p:txBody>
      </p:sp>
      <p:grpSp>
        <p:nvGrpSpPr>
          <p:cNvPr name="Group 21" id="21"/>
          <p:cNvGrpSpPr/>
          <p:nvPr/>
        </p:nvGrpSpPr>
        <p:grpSpPr>
          <a:xfrm rot="-10800000">
            <a:off x="8266618" y="2640904"/>
            <a:ext cx="1391113" cy="1349481"/>
            <a:chOff x="0" y="0"/>
            <a:chExt cx="537407" cy="52132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37407" cy="521324"/>
            </a:xfrm>
            <a:custGeom>
              <a:avLst/>
              <a:gdLst/>
              <a:ahLst/>
              <a:cxnLst/>
              <a:rect r="r" b="b" t="t" l="l"/>
              <a:pathLst>
                <a:path h="521324" w="537407">
                  <a:moveTo>
                    <a:pt x="77914" y="0"/>
                  </a:moveTo>
                  <a:lnTo>
                    <a:pt x="459494" y="0"/>
                  </a:lnTo>
                  <a:cubicBezTo>
                    <a:pt x="502524" y="0"/>
                    <a:pt x="537407" y="34883"/>
                    <a:pt x="537407" y="77914"/>
                  </a:cubicBezTo>
                  <a:lnTo>
                    <a:pt x="537407" y="443410"/>
                  </a:lnTo>
                  <a:cubicBezTo>
                    <a:pt x="537407" y="486441"/>
                    <a:pt x="502524" y="521324"/>
                    <a:pt x="459494" y="521324"/>
                  </a:cubicBezTo>
                  <a:lnTo>
                    <a:pt x="77914" y="521324"/>
                  </a:lnTo>
                  <a:cubicBezTo>
                    <a:pt x="34883" y="521324"/>
                    <a:pt x="0" y="486441"/>
                    <a:pt x="0" y="443410"/>
                  </a:cubicBezTo>
                  <a:lnTo>
                    <a:pt x="0" y="77914"/>
                  </a:lnTo>
                  <a:cubicBezTo>
                    <a:pt x="0" y="34883"/>
                    <a:pt x="34883" y="0"/>
                    <a:pt x="7791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8CFAE">
                    <a:alpha val="100000"/>
                  </a:srgbClr>
                </a:gs>
                <a:gs pos="100000">
                  <a:srgbClr val="006D83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537407" cy="5689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19756">
            <a:off x="8091112" y="2605148"/>
            <a:ext cx="1742891" cy="1202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53"/>
              </a:lnSpc>
              <a:spcBef>
                <a:spcPct val="0"/>
              </a:spcBef>
            </a:pPr>
            <a:r>
              <a:rPr lang="en-US" b="true" sz="7038" spc="415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05</a:t>
            </a:r>
          </a:p>
        </p:txBody>
      </p:sp>
      <p:grpSp>
        <p:nvGrpSpPr>
          <p:cNvPr name="Group 25" id="25"/>
          <p:cNvGrpSpPr/>
          <p:nvPr/>
        </p:nvGrpSpPr>
        <p:grpSpPr>
          <a:xfrm rot="-10800000">
            <a:off x="8266618" y="4082978"/>
            <a:ext cx="1391113" cy="1349481"/>
            <a:chOff x="0" y="0"/>
            <a:chExt cx="537407" cy="52132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37407" cy="521324"/>
            </a:xfrm>
            <a:custGeom>
              <a:avLst/>
              <a:gdLst/>
              <a:ahLst/>
              <a:cxnLst/>
              <a:rect r="r" b="b" t="t" l="l"/>
              <a:pathLst>
                <a:path h="521324" w="537407">
                  <a:moveTo>
                    <a:pt x="77914" y="0"/>
                  </a:moveTo>
                  <a:lnTo>
                    <a:pt x="459494" y="0"/>
                  </a:lnTo>
                  <a:cubicBezTo>
                    <a:pt x="502524" y="0"/>
                    <a:pt x="537407" y="34883"/>
                    <a:pt x="537407" y="77914"/>
                  </a:cubicBezTo>
                  <a:lnTo>
                    <a:pt x="537407" y="443410"/>
                  </a:lnTo>
                  <a:cubicBezTo>
                    <a:pt x="537407" y="486441"/>
                    <a:pt x="502524" y="521324"/>
                    <a:pt x="459494" y="521324"/>
                  </a:cubicBezTo>
                  <a:lnTo>
                    <a:pt x="77914" y="521324"/>
                  </a:lnTo>
                  <a:cubicBezTo>
                    <a:pt x="34883" y="521324"/>
                    <a:pt x="0" y="486441"/>
                    <a:pt x="0" y="443410"/>
                  </a:cubicBezTo>
                  <a:lnTo>
                    <a:pt x="0" y="77914"/>
                  </a:lnTo>
                  <a:cubicBezTo>
                    <a:pt x="0" y="34883"/>
                    <a:pt x="34883" y="0"/>
                    <a:pt x="7791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8CFAE">
                    <a:alpha val="100000"/>
                  </a:srgbClr>
                </a:gs>
                <a:gs pos="100000">
                  <a:srgbClr val="006D83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537407" cy="5689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19756">
            <a:off x="8082573" y="4053546"/>
            <a:ext cx="1742891" cy="1202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53"/>
              </a:lnSpc>
              <a:spcBef>
                <a:spcPct val="0"/>
              </a:spcBef>
            </a:pPr>
            <a:r>
              <a:rPr lang="en-US" b="true" sz="7038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06</a:t>
            </a:r>
          </a:p>
        </p:txBody>
      </p:sp>
      <p:grpSp>
        <p:nvGrpSpPr>
          <p:cNvPr name="Group 29" id="29"/>
          <p:cNvGrpSpPr/>
          <p:nvPr/>
        </p:nvGrpSpPr>
        <p:grpSpPr>
          <a:xfrm rot="-10800000">
            <a:off x="8266618" y="5590046"/>
            <a:ext cx="1391113" cy="1349481"/>
            <a:chOff x="0" y="0"/>
            <a:chExt cx="537407" cy="52132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37407" cy="521324"/>
            </a:xfrm>
            <a:custGeom>
              <a:avLst/>
              <a:gdLst/>
              <a:ahLst/>
              <a:cxnLst/>
              <a:rect r="r" b="b" t="t" l="l"/>
              <a:pathLst>
                <a:path h="521324" w="537407">
                  <a:moveTo>
                    <a:pt x="77914" y="0"/>
                  </a:moveTo>
                  <a:lnTo>
                    <a:pt x="459494" y="0"/>
                  </a:lnTo>
                  <a:cubicBezTo>
                    <a:pt x="502524" y="0"/>
                    <a:pt x="537407" y="34883"/>
                    <a:pt x="537407" y="77914"/>
                  </a:cubicBezTo>
                  <a:lnTo>
                    <a:pt x="537407" y="443410"/>
                  </a:lnTo>
                  <a:cubicBezTo>
                    <a:pt x="537407" y="486441"/>
                    <a:pt x="502524" y="521324"/>
                    <a:pt x="459494" y="521324"/>
                  </a:cubicBezTo>
                  <a:lnTo>
                    <a:pt x="77914" y="521324"/>
                  </a:lnTo>
                  <a:cubicBezTo>
                    <a:pt x="34883" y="521324"/>
                    <a:pt x="0" y="486441"/>
                    <a:pt x="0" y="443410"/>
                  </a:cubicBezTo>
                  <a:lnTo>
                    <a:pt x="0" y="77914"/>
                  </a:lnTo>
                  <a:cubicBezTo>
                    <a:pt x="0" y="34883"/>
                    <a:pt x="34883" y="0"/>
                    <a:pt x="7791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8CFAE">
                    <a:alpha val="100000"/>
                  </a:srgbClr>
                </a:gs>
                <a:gs pos="100000">
                  <a:srgbClr val="006D83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537407" cy="5689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19756">
            <a:off x="8091112" y="5501551"/>
            <a:ext cx="1742891" cy="1202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53"/>
              </a:lnSpc>
              <a:spcBef>
                <a:spcPct val="0"/>
              </a:spcBef>
            </a:pPr>
            <a:r>
              <a:rPr lang="en-US" b="true" sz="7038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07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318196" y="86200"/>
            <a:ext cx="6643979" cy="1159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95"/>
              </a:lnSpc>
              <a:spcBef>
                <a:spcPct val="0"/>
              </a:spcBef>
            </a:pPr>
            <a:r>
              <a:rPr lang="en-US" sz="6782">
                <a:solidFill>
                  <a:srgbClr val="33326B"/>
                </a:solidFill>
                <a:latin typeface="Hind Siliguri"/>
                <a:ea typeface="Hind Siliguri"/>
                <a:cs typeface="Hind Siliguri"/>
                <a:sym typeface="Hind Siliguri"/>
              </a:rPr>
              <a:t>ÍNDICE DE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274739" y="787458"/>
            <a:ext cx="11112929" cy="1946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09"/>
              </a:lnSpc>
              <a:spcBef>
                <a:spcPct val="0"/>
              </a:spcBef>
            </a:pPr>
            <a:r>
              <a:rPr lang="en-US" b="true" sz="11364">
                <a:solidFill>
                  <a:srgbClr val="33326B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CONTENIDOS</a:t>
            </a:r>
          </a:p>
        </p:txBody>
      </p:sp>
      <p:grpSp>
        <p:nvGrpSpPr>
          <p:cNvPr name="Group 35" id="35"/>
          <p:cNvGrpSpPr/>
          <p:nvPr/>
        </p:nvGrpSpPr>
        <p:grpSpPr>
          <a:xfrm rot="8100000">
            <a:off x="15141130" y="1681505"/>
            <a:ext cx="2103985" cy="2103985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51515" y="0"/>
                  </a:moveTo>
                  <a:lnTo>
                    <a:pt x="761285" y="0"/>
                  </a:lnTo>
                  <a:cubicBezTo>
                    <a:pt x="789736" y="0"/>
                    <a:pt x="812800" y="23064"/>
                    <a:pt x="812800" y="51515"/>
                  </a:cubicBezTo>
                  <a:lnTo>
                    <a:pt x="812800" y="761285"/>
                  </a:lnTo>
                  <a:cubicBezTo>
                    <a:pt x="812800" y="789736"/>
                    <a:pt x="789736" y="812800"/>
                    <a:pt x="761285" y="812800"/>
                  </a:cubicBezTo>
                  <a:lnTo>
                    <a:pt x="51515" y="812800"/>
                  </a:lnTo>
                  <a:cubicBezTo>
                    <a:pt x="23064" y="812800"/>
                    <a:pt x="0" y="789736"/>
                    <a:pt x="0" y="761285"/>
                  </a:cubicBezTo>
                  <a:lnTo>
                    <a:pt x="0" y="51515"/>
                  </a:lnTo>
                  <a:cubicBezTo>
                    <a:pt x="0" y="23064"/>
                    <a:pt x="23064" y="0"/>
                    <a:pt x="5151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8CFAE">
                    <a:alpha val="100000"/>
                  </a:srgbClr>
                </a:gs>
                <a:gs pos="100000">
                  <a:srgbClr val="006D83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8100000">
            <a:off x="12542885" y="-3550601"/>
            <a:ext cx="4742111" cy="4742111"/>
            <a:chOff x="0" y="0"/>
            <a:chExt cx="812800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22856" y="0"/>
                  </a:moveTo>
                  <a:lnTo>
                    <a:pt x="789944" y="0"/>
                  </a:lnTo>
                  <a:cubicBezTo>
                    <a:pt x="796006" y="0"/>
                    <a:pt x="801819" y="2408"/>
                    <a:pt x="806106" y="6694"/>
                  </a:cubicBezTo>
                  <a:cubicBezTo>
                    <a:pt x="810392" y="10981"/>
                    <a:pt x="812800" y="16794"/>
                    <a:pt x="812800" y="22856"/>
                  </a:cubicBezTo>
                  <a:lnTo>
                    <a:pt x="812800" y="789944"/>
                  </a:lnTo>
                  <a:cubicBezTo>
                    <a:pt x="812800" y="796006"/>
                    <a:pt x="810392" y="801819"/>
                    <a:pt x="806106" y="806106"/>
                  </a:cubicBezTo>
                  <a:cubicBezTo>
                    <a:pt x="801819" y="810392"/>
                    <a:pt x="796006" y="812800"/>
                    <a:pt x="789944" y="812800"/>
                  </a:cubicBezTo>
                  <a:lnTo>
                    <a:pt x="22856" y="812800"/>
                  </a:lnTo>
                  <a:cubicBezTo>
                    <a:pt x="16794" y="812800"/>
                    <a:pt x="10981" y="810392"/>
                    <a:pt x="6694" y="806106"/>
                  </a:cubicBezTo>
                  <a:cubicBezTo>
                    <a:pt x="2408" y="801819"/>
                    <a:pt x="0" y="796006"/>
                    <a:pt x="0" y="789944"/>
                  </a:cubicBezTo>
                  <a:lnTo>
                    <a:pt x="0" y="22856"/>
                  </a:lnTo>
                  <a:cubicBezTo>
                    <a:pt x="0" y="16794"/>
                    <a:pt x="2408" y="10981"/>
                    <a:pt x="6694" y="6694"/>
                  </a:cubicBezTo>
                  <a:cubicBezTo>
                    <a:pt x="10981" y="2408"/>
                    <a:pt x="16794" y="0"/>
                    <a:pt x="2285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8CFAE">
                    <a:alpha val="100000"/>
                  </a:srgbClr>
                </a:gs>
                <a:gs pos="100000">
                  <a:srgbClr val="006D83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-2700000">
            <a:off x="17334914" y="-1274095"/>
            <a:ext cx="4742111" cy="4742111"/>
            <a:chOff x="0" y="0"/>
            <a:chExt cx="812800" cy="812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22856" y="0"/>
                  </a:moveTo>
                  <a:lnTo>
                    <a:pt x="789944" y="0"/>
                  </a:lnTo>
                  <a:cubicBezTo>
                    <a:pt x="796006" y="0"/>
                    <a:pt x="801819" y="2408"/>
                    <a:pt x="806106" y="6694"/>
                  </a:cubicBezTo>
                  <a:cubicBezTo>
                    <a:pt x="810392" y="10981"/>
                    <a:pt x="812800" y="16794"/>
                    <a:pt x="812800" y="22856"/>
                  </a:cubicBezTo>
                  <a:lnTo>
                    <a:pt x="812800" y="789944"/>
                  </a:lnTo>
                  <a:cubicBezTo>
                    <a:pt x="812800" y="796006"/>
                    <a:pt x="810392" y="801819"/>
                    <a:pt x="806106" y="806106"/>
                  </a:cubicBezTo>
                  <a:cubicBezTo>
                    <a:pt x="801819" y="810392"/>
                    <a:pt x="796006" y="812800"/>
                    <a:pt x="789944" y="812800"/>
                  </a:cubicBezTo>
                  <a:lnTo>
                    <a:pt x="22856" y="812800"/>
                  </a:lnTo>
                  <a:cubicBezTo>
                    <a:pt x="16794" y="812800"/>
                    <a:pt x="10981" y="810392"/>
                    <a:pt x="6694" y="806106"/>
                  </a:cubicBezTo>
                  <a:cubicBezTo>
                    <a:pt x="2408" y="801819"/>
                    <a:pt x="0" y="796006"/>
                    <a:pt x="0" y="789944"/>
                  </a:cubicBezTo>
                  <a:lnTo>
                    <a:pt x="0" y="22856"/>
                  </a:lnTo>
                  <a:cubicBezTo>
                    <a:pt x="0" y="16794"/>
                    <a:pt x="2408" y="10981"/>
                    <a:pt x="6694" y="6694"/>
                  </a:cubicBezTo>
                  <a:cubicBezTo>
                    <a:pt x="10981" y="2408"/>
                    <a:pt x="16794" y="0"/>
                    <a:pt x="2285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8CFAE">
                    <a:alpha val="100000"/>
                  </a:srgbClr>
                </a:gs>
                <a:gs pos="100000">
                  <a:srgbClr val="006D8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-8100000">
            <a:off x="15699542" y="603380"/>
            <a:ext cx="987162" cy="987162"/>
            <a:chOff x="0" y="0"/>
            <a:chExt cx="812800" cy="8128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09796" y="0"/>
                  </a:moveTo>
                  <a:lnTo>
                    <a:pt x="703004" y="0"/>
                  </a:lnTo>
                  <a:cubicBezTo>
                    <a:pt x="732123" y="0"/>
                    <a:pt x="760051" y="11568"/>
                    <a:pt x="780641" y="32159"/>
                  </a:cubicBezTo>
                  <a:cubicBezTo>
                    <a:pt x="801232" y="52749"/>
                    <a:pt x="812800" y="80677"/>
                    <a:pt x="812800" y="109796"/>
                  </a:cubicBezTo>
                  <a:lnTo>
                    <a:pt x="812800" y="703004"/>
                  </a:lnTo>
                  <a:cubicBezTo>
                    <a:pt x="812800" y="732123"/>
                    <a:pt x="801232" y="760051"/>
                    <a:pt x="780641" y="780641"/>
                  </a:cubicBezTo>
                  <a:cubicBezTo>
                    <a:pt x="760051" y="801232"/>
                    <a:pt x="732123" y="812800"/>
                    <a:pt x="703004" y="812800"/>
                  </a:cubicBezTo>
                  <a:lnTo>
                    <a:pt x="109796" y="812800"/>
                  </a:lnTo>
                  <a:cubicBezTo>
                    <a:pt x="80677" y="812800"/>
                    <a:pt x="52749" y="801232"/>
                    <a:pt x="32159" y="780641"/>
                  </a:cubicBezTo>
                  <a:cubicBezTo>
                    <a:pt x="11568" y="760051"/>
                    <a:pt x="0" y="732123"/>
                    <a:pt x="0" y="703004"/>
                  </a:cubicBezTo>
                  <a:lnTo>
                    <a:pt x="0" y="109796"/>
                  </a:lnTo>
                  <a:cubicBezTo>
                    <a:pt x="0" y="80677"/>
                    <a:pt x="11568" y="52749"/>
                    <a:pt x="32159" y="32159"/>
                  </a:cubicBezTo>
                  <a:cubicBezTo>
                    <a:pt x="52749" y="11568"/>
                    <a:pt x="80677" y="0"/>
                    <a:pt x="109796" y="0"/>
                  </a:cubicBezTo>
                  <a:close/>
                </a:path>
              </a:pathLst>
            </a:custGeom>
            <a:solidFill>
              <a:srgbClr val="33326B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-10800000">
            <a:off x="-2244366" y="9188691"/>
            <a:ext cx="21640247" cy="2196619"/>
            <a:chOff x="0" y="0"/>
            <a:chExt cx="5699489" cy="578533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699489" cy="578533"/>
            </a:xfrm>
            <a:custGeom>
              <a:avLst/>
              <a:gdLst/>
              <a:ahLst/>
              <a:cxnLst/>
              <a:rect r="r" b="b" t="t" l="l"/>
              <a:pathLst>
                <a:path h="578533" w="5699489">
                  <a:moveTo>
                    <a:pt x="0" y="0"/>
                  </a:moveTo>
                  <a:lnTo>
                    <a:pt x="5699489" y="0"/>
                  </a:lnTo>
                  <a:lnTo>
                    <a:pt x="5699489" y="578533"/>
                  </a:lnTo>
                  <a:lnTo>
                    <a:pt x="0" y="578533"/>
                  </a:lnTo>
                  <a:close/>
                </a:path>
              </a:pathLst>
            </a:custGeom>
            <a:solidFill>
              <a:srgbClr val="195759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5699489" cy="6261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50" id="50"/>
          <p:cNvSpPr txBox="true"/>
          <p:nvPr/>
        </p:nvSpPr>
        <p:spPr>
          <a:xfrm rot="19756">
            <a:off x="2454809" y="6092613"/>
            <a:ext cx="5139970" cy="405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2"/>
              </a:lnSpc>
              <a:spcBef>
                <a:spcPct val="0"/>
              </a:spcBef>
            </a:pPr>
            <a:r>
              <a:rPr lang="en-US" sz="2394" b="true">
                <a:solidFill>
                  <a:srgbClr val="01003B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Introducción</a:t>
            </a:r>
          </a:p>
        </p:txBody>
      </p:sp>
      <p:sp>
        <p:nvSpPr>
          <p:cNvPr name="TextBox 51" id="51"/>
          <p:cNvSpPr txBox="true"/>
          <p:nvPr/>
        </p:nvSpPr>
        <p:spPr>
          <a:xfrm rot="19756">
            <a:off x="2454809" y="7711349"/>
            <a:ext cx="5139970" cy="405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2"/>
              </a:lnSpc>
              <a:spcBef>
                <a:spcPct val="0"/>
              </a:spcBef>
            </a:pPr>
            <a:r>
              <a:rPr lang="en-US" sz="2394" b="true">
                <a:solidFill>
                  <a:srgbClr val="01003B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Objetivos General y Específicos </a:t>
            </a:r>
          </a:p>
        </p:txBody>
      </p:sp>
      <p:grpSp>
        <p:nvGrpSpPr>
          <p:cNvPr name="Group 52" id="52"/>
          <p:cNvGrpSpPr/>
          <p:nvPr/>
        </p:nvGrpSpPr>
        <p:grpSpPr>
          <a:xfrm rot="-10800000">
            <a:off x="927083" y="7263376"/>
            <a:ext cx="1391113" cy="1349481"/>
            <a:chOff x="0" y="0"/>
            <a:chExt cx="537407" cy="521324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537407" cy="521324"/>
            </a:xfrm>
            <a:custGeom>
              <a:avLst/>
              <a:gdLst/>
              <a:ahLst/>
              <a:cxnLst/>
              <a:rect r="r" b="b" t="t" l="l"/>
              <a:pathLst>
                <a:path h="521324" w="537407">
                  <a:moveTo>
                    <a:pt x="77914" y="0"/>
                  </a:moveTo>
                  <a:lnTo>
                    <a:pt x="459494" y="0"/>
                  </a:lnTo>
                  <a:cubicBezTo>
                    <a:pt x="502524" y="0"/>
                    <a:pt x="537407" y="34883"/>
                    <a:pt x="537407" y="77914"/>
                  </a:cubicBezTo>
                  <a:lnTo>
                    <a:pt x="537407" y="443410"/>
                  </a:lnTo>
                  <a:cubicBezTo>
                    <a:pt x="537407" y="486441"/>
                    <a:pt x="502524" y="521324"/>
                    <a:pt x="459494" y="521324"/>
                  </a:cubicBezTo>
                  <a:lnTo>
                    <a:pt x="77914" y="521324"/>
                  </a:lnTo>
                  <a:cubicBezTo>
                    <a:pt x="34883" y="521324"/>
                    <a:pt x="0" y="486441"/>
                    <a:pt x="0" y="443410"/>
                  </a:cubicBezTo>
                  <a:lnTo>
                    <a:pt x="0" y="77914"/>
                  </a:lnTo>
                  <a:cubicBezTo>
                    <a:pt x="0" y="34883"/>
                    <a:pt x="34883" y="0"/>
                    <a:pt x="7791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8CFAE">
                    <a:alpha val="100000"/>
                  </a:srgbClr>
                </a:gs>
                <a:gs pos="100000">
                  <a:srgbClr val="006D83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47625"/>
              <a:ext cx="537407" cy="5689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55" id="55"/>
          <p:cNvSpPr txBox="true"/>
          <p:nvPr/>
        </p:nvSpPr>
        <p:spPr>
          <a:xfrm rot="19756">
            <a:off x="708119" y="7163602"/>
            <a:ext cx="1742891" cy="1202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53"/>
              </a:lnSpc>
              <a:spcBef>
                <a:spcPct val="0"/>
              </a:spcBef>
            </a:pPr>
            <a:r>
              <a:rPr lang="en-US" b="true" sz="7038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04</a:t>
            </a:r>
          </a:p>
        </p:txBody>
      </p:sp>
      <p:grpSp>
        <p:nvGrpSpPr>
          <p:cNvPr name="Group 56" id="56"/>
          <p:cNvGrpSpPr/>
          <p:nvPr/>
        </p:nvGrpSpPr>
        <p:grpSpPr>
          <a:xfrm rot="-10800000">
            <a:off x="8258079" y="7139551"/>
            <a:ext cx="1391113" cy="1349481"/>
            <a:chOff x="0" y="0"/>
            <a:chExt cx="537407" cy="521324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537407" cy="521324"/>
            </a:xfrm>
            <a:custGeom>
              <a:avLst/>
              <a:gdLst/>
              <a:ahLst/>
              <a:cxnLst/>
              <a:rect r="r" b="b" t="t" l="l"/>
              <a:pathLst>
                <a:path h="521324" w="537407">
                  <a:moveTo>
                    <a:pt x="77914" y="0"/>
                  </a:moveTo>
                  <a:lnTo>
                    <a:pt x="459494" y="0"/>
                  </a:lnTo>
                  <a:cubicBezTo>
                    <a:pt x="502524" y="0"/>
                    <a:pt x="537407" y="34883"/>
                    <a:pt x="537407" y="77914"/>
                  </a:cubicBezTo>
                  <a:lnTo>
                    <a:pt x="537407" y="443410"/>
                  </a:lnTo>
                  <a:cubicBezTo>
                    <a:pt x="537407" y="486441"/>
                    <a:pt x="502524" y="521324"/>
                    <a:pt x="459494" y="521324"/>
                  </a:cubicBezTo>
                  <a:lnTo>
                    <a:pt x="77914" y="521324"/>
                  </a:lnTo>
                  <a:cubicBezTo>
                    <a:pt x="34883" y="521324"/>
                    <a:pt x="0" y="486441"/>
                    <a:pt x="0" y="443410"/>
                  </a:cubicBezTo>
                  <a:lnTo>
                    <a:pt x="0" y="77914"/>
                  </a:lnTo>
                  <a:cubicBezTo>
                    <a:pt x="0" y="34883"/>
                    <a:pt x="34883" y="0"/>
                    <a:pt x="7791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8CFAE">
                    <a:alpha val="100000"/>
                  </a:srgbClr>
                </a:gs>
                <a:gs pos="100000">
                  <a:srgbClr val="006D83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537407" cy="5689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59" id="59"/>
          <p:cNvSpPr txBox="true"/>
          <p:nvPr/>
        </p:nvSpPr>
        <p:spPr>
          <a:xfrm rot="19756">
            <a:off x="8082573" y="7076357"/>
            <a:ext cx="1742891" cy="1202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53"/>
              </a:lnSpc>
              <a:spcBef>
                <a:spcPct val="0"/>
              </a:spcBef>
            </a:pPr>
            <a:r>
              <a:rPr lang="en-US" b="true" sz="7038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08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99155" y="-3283094"/>
            <a:ext cx="19615407" cy="4281840"/>
            <a:chOff x="0" y="0"/>
            <a:chExt cx="5166198" cy="112772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66198" cy="1127727"/>
            </a:xfrm>
            <a:custGeom>
              <a:avLst/>
              <a:gdLst/>
              <a:ahLst/>
              <a:cxnLst/>
              <a:rect r="r" b="b" t="t" l="l"/>
              <a:pathLst>
                <a:path h="1127727" w="5166198">
                  <a:moveTo>
                    <a:pt x="0" y="0"/>
                  </a:moveTo>
                  <a:lnTo>
                    <a:pt x="5166198" y="0"/>
                  </a:lnTo>
                  <a:lnTo>
                    <a:pt x="5166198" y="1127727"/>
                  </a:lnTo>
                  <a:lnTo>
                    <a:pt x="0" y="1127727"/>
                  </a:lnTo>
                  <a:close/>
                </a:path>
              </a:pathLst>
            </a:custGeom>
            <a:solidFill>
              <a:srgbClr val="19575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166198" cy="11753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8100000">
            <a:off x="-1793629" y="1798313"/>
            <a:ext cx="2388948" cy="2388948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5370" y="0"/>
                  </a:moveTo>
                  <a:lnTo>
                    <a:pt x="767430" y="0"/>
                  </a:lnTo>
                  <a:cubicBezTo>
                    <a:pt x="792487" y="0"/>
                    <a:pt x="812800" y="20313"/>
                    <a:pt x="812800" y="45370"/>
                  </a:cubicBezTo>
                  <a:lnTo>
                    <a:pt x="812800" y="767430"/>
                  </a:lnTo>
                  <a:cubicBezTo>
                    <a:pt x="812800" y="792487"/>
                    <a:pt x="792487" y="812800"/>
                    <a:pt x="767430" y="812800"/>
                  </a:cubicBezTo>
                  <a:lnTo>
                    <a:pt x="45370" y="812800"/>
                  </a:lnTo>
                  <a:cubicBezTo>
                    <a:pt x="20313" y="812800"/>
                    <a:pt x="0" y="792487"/>
                    <a:pt x="0" y="767430"/>
                  </a:cubicBezTo>
                  <a:lnTo>
                    <a:pt x="0" y="45370"/>
                  </a:lnTo>
                  <a:cubicBezTo>
                    <a:pt x="0" y="20313"/>
                    <a:pt x="20313" y="0"/>
                    <a:pt x="45370" y="0"/>
                  </a:cubicBezTo>
                  <a:close/>
                </a:path>
              </a:pathLst>
            </a:custGeom>
            <a:solidFill>
              <a:srgbClr val="33326B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2700000">
            <a:off x="252683" y="-845733"/>
            <a:ext cx="3895116" cy="3895116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27826" y="0"/>
                  </a:moveTo>
                  <a:lnTo>
                    <a:pt x="784974" y="0"/>
                  </a:lnTo>
                  <a:cubicBezTo>
                    <a:pt x="792354" y="0"/>
                    <a:pt x="799431" y="2932"/>
                    <a:pt x="804650" y="8150"/>
                  </a:cubicBezTo>
                  <a:cubicBezTo>
                    <a:pt x="809868" y="13369"/>
                    <a:pt x="812800" y="20446"/>
                    <a:pt x="812800" y="27826"/>
                  </a:cubicBezTo>
                  <a:lnTo>
                    <a:pt x="812800" y="784974"/>
                  </a:lnTo>
                  <a:cubicBezTo>
                    <a:pt x="812800" y="792354"/>
                    <a:pt x="809868" y="799431"/>
                    <a:pt x="804650" y="804650"/>
                  </a:cubicBezTo>
                  <a:cubicBezTo>
                    <a:pt x="799431" y="809868"/>
                    <a:pt x="792354" y="812800"/>
                    <a:pt x="784974" y="812800"/>
                  </a:cubicBezTo>
                  <a:lnTo>
                    <a:pt x="27826" y="812800"/>
                  </a:lnTo>
                  <a:cubicBezTo>
                    <a:pt x="20446" y="812800"/>
                    <a:pt x="13369" y="809868"/>
                    <a:pt x="8150" y="804650"/>
                  </a:cubicBezTo>
                  <a:cubicBezTo>
                    <a:pt x="2932" y="799431"/>
                    <a:pt x="0" y="792354"/>
                    <a:pt x="0" y="784974"/>
                  </a:cubicBezTo>
                  <a:lnTo>
                    <a:pt x="0" y="27826"/>
                  </a:lnTo>
                  <a:cubicBezTo>
                    <a:pt x="0" y="20446"/>
                    <a:pt x="2932" y="13369"/>
                    <a:pt x="8150" y="8150"/>
                  </a:cubicBezTo>
                  <a:cubicBezTo>
                    <a:pt x="13369" y="2932"/>
                    <a:pt x="20446" y="0"/>
                    <a:pt x="2782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8CFAE">
                    <a:alpha val="100000"/>
                  </a:srgbClr>
                </a:gs>
                <a:gs pos="100000">
                  <a:srgbClr val="006D83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8100000">
            <a:off x="3410361" y="1734379"/>
            <a:ext cx="1042499" cy="1042499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03968" y="0"/>
                  </a:moveTo>
                  <a:lnTo>
                    <a:pt x="708832" y="0"/>
                  </a:lnTo>
                  <a:cubicBezTo>
                    <a:pt x="736406" y="0"/>
                    <a:pt x="762851" y="10954"/>
                    <a:pt x="782348" y="30452"/>
                  </a:cubicBezTo>
                  <a:cubicBezTo>
                    <a:pt x="801846" y="49949"/>
                    <a:pt x="812800" y="76394"/>
                    <a:pt x="812800" y="103968"/>
                  </a:cubicBezTo>
                  <a:lnTo>
                    <a:pt x="812800" y="708832"/>
                  </a:lnTo>
                  <a:cubicBezTo>
                    <a:pt x="812800" y="736406"/>
                    <a:pt x="801846" y="762851"/>
                    <a:pt x="782348" y="782348"/>
                  </a:cubicBezTo>
                  <a:cubicBezTo>
                    <a:pt x="762851" y="801846"/>
                    <a:pt x="736406" y="812800"/>
                    <a:pt x="708832" y="812800"/>
                  </a:cubicBezTo>
                  <a:lnTo>
                    <a:pt x="103968" y="812800"/>
                  </a:lnTo>
                  <a:cubicBezTo>
                    <a:pt x="76394" y="812800"/>
                    <a:pt x="49949" y="801846"/>
                    <a:pt x="30452" y="782348"/>
                  </a:cubicBezTo>
                  <a:cubicBezTo>
                    <a:pt x="10954" y="762851"/>
                    <a:pt x="0" y="736406"/>
                    <a:pt x="0" y="708832"/>
                  </a:cubicBezTo>
                  <a:lnTo>
                    <a:pt x="0" y="103968"/>
                  </a:lnTo>
                  <a:cubicBezTo>
                    <a:pt x="0" y="76394"/>
                    <a:pt x="10954" y="49949"/>
                    <a:pt x="30452" y="30452"/>
                  </a:cubicBezTo>
                  <a:cubicBezTo>
                    <a:pt x="49949" y="10954"/>
                    <a:pt x="76394" y="0"/>
                    <a:pt x="103968" y="0"/>
                  </a:cubicBezTo>
                  <a:close/>
                </a:path>
              </a:pathLst>
            </a:custGeom>
            <a:solidFill>
              <a:srgbClr val="33326B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4954504" y="1915192"/>
            <a:ext cx="11563152" cy="1077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40"/>
              </a:lnSpc>
            </a:pPr>
            <a:r>
              <a:rPr lang="en-US" b="true" sz="8000" spc="256">
                <a:solidFill>
                  <a:srgbClr val="01003B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Contexto del Proyecto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3995287"/>
            <a:ext cx="7578544" cy="5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01003B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FIDEVAL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4461377"/>
            <a:ext cx="8118462" cy="2470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4"/>
              </a:lnSpc>
            </a:pPr>
            <a:r>
              <a:rPr lang="en-US" sz="2502">
                <a:solidFill>
                  <a:srgbClr val="01003B"/>
                </a:solidFill>
                <a:latin typeface="Be Vietnam"/>
                <a:ea typeface="Be Vietnam"/>
                <a:cs typeface="Be Vietnam"/>
                <a:sym typeface="Be Vietnam"/>
              </a:rPr>
              <a:t>E</a:t>
            </a:r>
            <a:r>
              <a:rPr lang="en-US" sz="2502">
                <a:solidFill>
                  <a:srgbClr val="01003B"/>
                </a:solidFill>
                <a:latin typeface="Be Vietnam"/>
                <a:ea typeface="Be Vietnam"/>
                <a:cs typeface="Be Vietnam"/>
                <a:sym typeface="Be Vietnam"/>
              </a:rPr>
              <a:t>mpresa dedicada a la administración de fideicomisos y fondos de inversión, encargada de manejar contratos, datos de clientes y procesos internos.</a:t>
            </a:r>
          </a:p>
          <a:p>
            <a:pPr algn="l">
              <a:lnSpc>
                <a:spcPts val="4004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879497" y="7074254"/>
            <a:ext cx="7578544" cy="5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01003B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 GESTIÓN ACTUAL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7540345"/>
            <a:ext cx="8118462" cy="1473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4"/>
              </a:lnSpc>
            </a:pPr>
            <a:r>
              <a:rPr lang="en-US" sz="2502">
                <a:solidFill>
                  <a:srgbClr val="01003B"/>
                </a:solidFill>
                <a:latin typeface="Be Vietnam"/>
                <a:ea typeface="Be Vietnam"/>
                <a:cs typeface="Be Vietnam"/>
                <a:sym typeface="Be Vietnam"/>
              </a:rPr>
              <a:t>L</a:t>
            </a:r>
            <a:r>
              <a:rPr lang="en-US" sz="2502">
                <a:solidFill>
                  <a:srgbClr val="01003B"/>
                </a:solidFill>
                <a:latin typeface="Be Vietnam"/>
                <a:ea typeface="Be Vietnam"/>
                <a:cs typeface="Be Vietnam"/>
                <a:sym typeface="Be Vietnam"/>
              </a:rPr>
              <a:t>a información y los contratos se gestionan de forma manual o con herramientas separadas, lo que dificulta el control y seguimiento de los documentos.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005035" y="3995287"/>
            <a:ext cx="7578544" cy="5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01003B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 RIESGO DE ERRORES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892647" y="4461377"/>
            <a:ext cx="8118462" cy="1473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4"/>
              </a:lnSpc>
            </a:pPr>
            <a:r>
              <a:rPr lang="en-US" sz="2502">
                <a:solidFill>
                  <a:srgbClr val="01003B"/>
                </a:solidFill>
                <a:latin typeface="Be Vietnam"/>
                <a:ea typeface="Be Vietnam"/>
                <a:cs typeface="Be Vietnam"/>
                <a:sym typeface="Be Vietnam"/>
              </a:rPr>
              <a:t>El </a:t>
            </a:r>
            <a:r>
              <a:rPr lang="en-US" sz="2502">
                <a:solidFill>
                  <a:srgbClr val="01003B"/>
                </a:solidFill>
                <a:latin typeface="Be Vietnam"/>
                <a:ea typeface="Be Vietnam"/>
                <a:cs typeface="Be Vietnam"/>
                <a:sym typeface="Be Vietnam"/>
              </a:rPr>
              <a:t>manejo manual puede generar pérdida de información, inconsistencias y retrasos en la elaboración y actualización de contratos.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005035" y="7074254"/>
            <a:ext cx="7578544" cy="5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01003B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SOLUCIÓN PROPUESTA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892647" y="7540345"/>
            <a:ext cx="8118462" cy="974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4"/>
              </a:lnSpc>
            </a:pPr>
            <a:r>
              <a:rPr lang="en-US" sz="2502">
                <a:solidFill>
                  <a:srgbClr val="01003B"/>
                </a:solidFill>
                <a:latin typeface="Be Vietnam"/>
                <a:ea typeface="Be Vietnam"/>
                <a:cs typeface="Be Vietnam"/>
                <a:sym typeface="Be Vietnam"/>
              </a:rPr>
              <a:t>S</a:t>
            </a:r>
            <a:r>
              <a:rPr lang="en-US" sz="2502">
                <a:solidFill>
                  <a:srgbClr val="01003B"/>
                </a:solidFill>
                <a:latin typeface="Be Vietnam"/>
                <a:ea typeface="Be Vietnam"/>
                <a:cs typeface="Be Vietnam"/>
                <a:sym typeface="Be Vietnam"/>
              </a:rPr>
              <a:t>istema centralizado para gestionar contratos y mejorar la eficiencia administrativa.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99155" y="-3283094"/>
            <a:ext cx="19615407" cy="4281840"/>
            <a:chOff x="0" y="0"/>
            <a:chExt cx="5166198" cy="11277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66198" cy="1127727"/>
            </a:xfrm>
            <a:custGeom>
              <a:avLst/>
              <a:gdLst/>
              <a:ahLst/>
              <a:cxnLst/>
              <a:rect r="r" b="b" t="t" l="l"/>
              <a:pathLst>
                <a:path h="1127727" w="5166198">
                  <a:moveTo>
                    <a:pt x="0" y="0"/>
                  </a:moveTo>
                  <a:lnTo>
                    <a:pt x="5166198" y="0"/>
                  </a:lnTo>
                  <a:lnTo>
                    <a:pt x="5166198" y="1127727"/>
                  </a:lnTo>
                  <a:lnTo>
                    <a:pt x="0" y="1127727"/>
                  </a:lnTo>
                  <a:close/>
                </a:path>
              </a:pathLst>
            </a:custGeom>
            <a:solidFill>
              <a:srgbClr val="19575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5166198" cy="11753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8100000">
            <a:off x="-1793629" y="1798313"/>
            <a:ext cx="2388948" cy="2388948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5370" y="0"/>
                  </a:moveTo>
                  <a:lnTo>
                    <a:pt x="767430" y="0"/>
                  </a:lnTo>
                  <a:cubicBezTo>
                    <a:pt x="792487" y="0"/>
                    <a:pt x="812800" y="20313"/>
                    <a:pt x="812800" y="45370"/>
                  </a:cubicBezTo>
                  <a:lnTo>
                    <a:pt x="812800" y="767430"/>
                  </a:lnTo>
                  <a:cubicBezTo>
                    <a:pt x="812800" y="792487"/>
                    <a:pt x="792487" y="812800"/>
                    <a:pt x="767430" y="812800"/>
                  </a:cubicBezTo>
                  <a:lnTo>
                    <a:pt x="45370" y="812800"/>
                  </a:lnTo>
                  <a:cubicBezTo>
                    <a:pt x="20313" y="812800"/>
                    <a:pt x="0" y="792487"/>
                    <a:pt x="0" y="767430"/>
                  </a:cubicBezTo>
                  <a:lnTo>
                    <a:pt x="0" y="45370"/>
                  </a:lnTo>
                  <a:cubicBezTo>
                    <a:pt x="0" y="20313"/>
                    <a:pt x="20313" y="0"/>
                    <a:pt x="45370" y="0"/>
                  </a:cubicBezTo>
                  <a:close/>
                </a:path>
              </a:pathLst>
            </a:custGeom>
            <a:solidFill>
              <a:srgbClr val="33326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2700000">
            <a:off x="252683" y="-845733"/>
            <a:ext cx="3895116" cy="3895116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27826" y="0"/>
                  </a:moveTo>
                  <a:lnTo>
                    <a:pt x="784974" y="0"/>
                  </a:lnTo>
                  <a:cubicBezTo>
                    <a:pt x="792354" y="0"/>
                    <a:pt x="799431" y="2932"/>
                    <a:pt x="804650" y="8150"/>
                  </a:cubicBezTo>
                  <a:cubicBezTo>
                    <a:pt x="809868" y="13369"/>
                    <a:pt x="812800" y="20446"/>
                    <a:pt x="812800" y="27826"/>
                  </a:cubicBezTo>
                  <a:lnTo>
                    <a:pt x="812800" y="784974"/>
                  </a:lnTo>
                  <a:cubicBezTo>
                    <a:pt x="812800" y="792354"/>
                    <a:pt x="809868" y="799431"/>
                    <a:pt x="804650" y="804650"/>
                  </a:cubicBezTo>
                  <a:cubicBezTo>
                    <a:pt x="799431" y="809868"/>
                    <a:pt x="792354" y="812800"/>
                    <a:pt x="784974" y="812800"/>
                  </a:cubicBezTo>
                  <a:lnTo>
                    <a:pt x="27826" y="812800"/>
                  </a:lnTo>
                  <a:cubicBezTo>
                    <a:pt x="20446" y="812800"/>
                    <a:pt x="13369" y="809868"/>
                    <a:pt x="8150" y="804650"/>
                  </a:cubicBezTo>
                  <a:cubicBezTo>
                    <a:pt x="2932" y="799431"/>
                    <a:pt x="0" y="792354"/>
                    <a:pt x="0" y="784974"/>
                  </a:cubicBezTo>
                  <a:lnTo>
                    <a:pt x="0" y="27826"/>
                  </a:lnTo>
                  <a:cubicBezTo>
                    <a:pt x="0" y="20446"/>
                    <a:pt x="2932" y="13369"/>
                    <a:pt x="8150" y="8150"/>
                  </a:cubicBezTo>
                  <a:cubicBezTo>
                    <a:pt x="13369" y="2932"/>
                    <a:pt x="20446" y="0"/>
                    <a:pt x="2782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8CFAE">
                    <a:alpha val="100000"/>
                  </a:srgbClr>
                </a:gs>
                <a:gs pos="100000">
                  <a:srgbClr val="006D83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8100000">
            <a:off x="3410361" y="1734379"/>
            <a:ext cx="1042499" cy="1042499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03968" y="0"/>
                  </a:moveTo>
                  <a:lnTo>
                    <a:pt x="708832" y="0"/>
                  </a:lnTo>
                  <a:cubicBezTo>
                    <a:pt x="736406" y="0"/>
                    <a:pt x="762851" y="10954"/>
                    <a:pt x="782348" y="30452"/>
                  </a:cubicBezTo>
                  <a:cubicBezTo>
                    <a:pt x="801846" y="49949"/>
                    <a:pt x="812800" y="76394"/>
                    <a:pt x="812800" y="103968"/>
                  </a:cubicBezTo>
                  <a:lnTo>
                    <a:pt x="812800" y="708832"/>
                  </a:lnTo>
                  <a:cubicBezTo>
                    <a:pt x="812800" y="736406"/>
                    <a:pt x="801846" y="762851"/>
                    <a:pt x="782348" y="782348"/>
                  </a:cubicBezTo>
                  <a:cubicBezTo>
                    <a:pt x="762851" y="801846"/>
                    <a:pt x="736406" y="812800"/>
                    <a:pt x="708832" y="812800"/>
                  </a:cubicBezTo>
                  <a:lnTo>
                    <a:pt x="103968" y="812800"/>
                  </a:lnTo>
                  <a:cubicBezTo>
                    <a:pt x="76394" y="812800"/>
                    <a:pt x="49949" y="801846"/>
                    <a:pt x="30452" y="782348"/>
                  </a:cubicBezTo>
                  <a:cubicBezTo>
                    <a:pt x="10954" y="762851"/>
                    <a:pt x="0" y="736406"/>
                    <a:pt x="0" y="708832"/>
                  </a:cubicBezTo>
                  <a:lnTo>
                    <a:pt x="0" y="103968"/>
                  </a:lnTo>
                  <a:cubicBezTo>
                    <a:pt x="0" y="76394"/>
                    <a:pt x="10954" y="49949"/>
                    <a:pt x="30452" y="30452"/>
                  </a:cubicBezTo>
                  <a:cubicBezTo>
                    <a:pt x="49949" y="10954"/>
                    <a:pt x="76394" y="0"/>
                    <a:pt x="103968" y="0"/>
                  </a:cubicBezTo>
                  <a:close/>
                </a:path>
              </a:pathLst>
            </a:custGeom>
            <a:solidFill>
              <a:srgbClr val="33326B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5318281" y="1783506"/>
            <a:ext cx="8542536" cy="1077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40"/>
              </a:lnSpc>
            </a:pPr>
            <a:r>
              <a:rPr lang="en-US" b="true" sz="8000" spc="256">
                <a:solidFill>
                  <a:srgbClr val="01003B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Roles del equipo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737615" y="3516662"/>
            <a:ext cx="13703868" cy="5457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4"/>
              </a:lnSpc>
            </a:pPr>
            <a:r>
              <a:rPr lang="en-US" sz="3002">
                <a:solidFill>
                  <a:srgbClr val="01003B"/>
                </a:solidFill>
                <a:latin typeface="Be Vietnam"/>
                <a:ea typeface="Be Vietnam"/>
                <a:cs typeface="Be Vietnam"/>
                <a:sym typeface="Be Vietnam"/>
              </a:rPr>
              <a:t>En el desarrollo de la aplicación para nuestro líder Product Owner (Tecnóloga Verónica Intriago), cada integrante del equipo tiene</a:t>
            </a:r>
          </a:p>
          <a:p>
            <a:pPr algn="l">
              <a:lnSpc>
                <a:spcPts val="4804"/>
              </a:lnSpc>
            </a:pPr>
            <a:r>
              <a:rPr lang="en-US" sz="3002">
                <a:solidFill>
                  <a:srgbClr val="01003B"/>
                </a:solidFill>
                <a:latin typeface="Be Vietnam"/>
                <a:ea typeface="Be Vietnam"/>
                <a:cs typeface="Be Vietnam"/>
                <a:sym typeface="Be Vietnam"/>
              </a:rPr>
              <a:t>un rol específico dentro del marco de trabajo ágil Scrum.</a:t>
            </a:r>
          </a:p>
          <a:p>
            <a:pPr algn="l" marL="648322" indent="-324161" lvl="1">
              <a:lnSpc>
                <a:spcPts val="4804"/>
              </a:lnSpc>
              <a:buFont typeface="Arial"/>
              <a:buChar char="•"/>
            </a:pPr>
            <a:r>
              <a:rPr lang="en-US" b="true" sz="3002">
                <a:solidFill>
                  <a:srgbClr val="01003B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Andino Kevin</a:t>
            </a:r>
            <a:r>
              <a:rPr lang="en-US" b="true" sz="3002">
                <a:solidFill>
                  <a:srgbClr val="01003B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:</a:t>
            </a:r>
            <a:r>
              <a:rPr lang="en-US" sz="3002">
                <a:solidFill>
                  <a:srgbClr val="01003B"/>
                </a:solidFill>
                <a:latin typeface="Be Vietnam"/>
                <a:ea typeface="Be Vietnam"/>
                <a:cs typeface="Be Vietnam"/>
                <a:sym typeface="Be Vietnam"/>
              </a:rPr>
              <a:t> Scrum Master, responsable de facilitar el proceso Scrum y apoyar al equipo para eliminar impedimentos.</a:t>
            </a:r>
          </a:p>
          <a:p>
            <a:pPr algn="l" marL="648322" indent="-324161" lvl="1">
              <a:lnSpc>
                <a:spcPts val="4804"/>
              </a:lnSpc>
              <a:buFont typeface="Arial"/>
              <a:buChar char="•"/>
            </a:pPr>
            <a:r>
              <a:rPr lang="en-US" b="true" sz="3002">
                <a:solidFill>
                  <a:srgbClr val="01003B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Quishpe Denisse:</a:t>
            </a:r>
            <a:r>
              <a:rPr lang="en-US" sz="3002">
                <a:solidFill>
                  <a:srgbClr val="01003B"/>
                </a:solidFill>
                <a:latin typeface="Be Vietnam"/>
                <a:ea typeface="Be Vietnam"/>
                <a:cs typeface="Be Vietnam"/>
                <a:sym typeface="Be Vietnam"/>
              </a:rPr>
              <a:t> Analista, encargado de recopilar y analizar los requisitos del sistema.</a:t>
            </a:r>
          </a:p>
          <a:p>
            <a:pPr algn="l" marL="648322" indent="-324161" lvl="1">
              <a:lnSpc>
                <a:spcPts val="4804"/>
              </a:lnSpc>
              <a:buFont typeface="Arial"/>
              <a:buChar char="•"/>
            </a:pPr>
            <a:r>
              <a:rPr lang="en-US" b="true" sz="3002">
                <a:solidFill>
                  <a:srgbClr val="01003B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Calle Luis y Tasipanta Madellyn:</a:t>
            </a:r>
            <a:r>
              <a:rPr lang="en-US" sz="3002">
                <a:solidFill>
                  <a:srgbClr val="01003B"/>
                </a:solidFill>
                <a:latin typeface="Be Vietnam"/>
                <a:ea typeface="Be Vietnam"/>
                <a:cs typeface="Be Vietnam"/>
                <a:sym typeface="Be Vietnam"/>
              </a:rPr>
              <a:t> Programadores, encargados del desarrollo y la implementación del código de la aplicación.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11083240" y="-278467"/>
            <a:ext cx="7479071" cy="11923156"/>
          </a:xfrm>
          <a:custGeom>
            <a:avLst/>
            <a:gdLst/>
            <a:ahLst/>
            <a:cxnLst/>
            <a:rect r="r" b="b" t="t" l="l"/>
            <a:pathLst>
              <a:path h="11923156" w="7479071">
                <a:moveTo>
                  <a:pt x="0" y="11923157"/>
                </a:moveTo>
                <a:lnTo>
                  <a:pt x="7479071" y="11923157"/>
                </a:lnTo>
                <a:lnTo>
                  <a:pt x="7479071" y="0"/>
                </a:lnTo>
                <a:lnTo>
                  <a:pt x="0" y="0"/>
                </a:lnTo>
                <a:lnTo>
                  <a:pt x="0" y="11923157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5400000">
            <a:off x="-7193679" y="3239326"/>
            <a:ext cx="12549356" cy="3895402"/>
            <a:chOff x="0" y="0"/>
            <a:chExt cx="3305180" cy="10259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305180" cy="1025949"/>
            </a:xfrm>
            <a:custGeom>
              <a:avLst/>
              <a:gdLst/>
              <a:ahLst/>
              <a:cxnLst/>
              <a:rect r="r" b="b" t="t" l="l"/>
              <a:pathLst>
                <a:path h="1025949" w="3305180">
                  <a:moveTo>
                    <a:pt x="0" y="0"/>
                  </a:moveTo>
                  <a:lnTo>
                    <a:pt x="3305180" y="0"/>
                  </a:lnTo>
                  <a:lnTo>
                    <a:pt x="3305180" y="1025949"/>
                  </a:lnTo>
                  <a:lnTo>
                    <a:pt x="0" y="1025949"/>
                  </a:lnTo>
                  <a:close/>
                </a:path>
              </a:pathLst>
            </a:custGeom>
            <a:solidFill>
              <a:srgbClr val="19575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3305180" cy="1073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1225079" y="2338742"/>
            <a:ext cx="6034221" cy="5696571"/>
            <a:chOff x="0" y="0"/>
            <a:chExt cx="860977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60977" cy="812800"/>
            </a:xfrm>
            <a:custGeom>
              <a:avLst/>
              <a:gdLst/>
              <a:ahLst/>
              <a:cxnLst/>
              <a:rect r="r" b="b" t="t" l="l"/>
              <a:pathLst>
                <a:path h="812800" w="860977">
                  <a:moveTo>
                    <a:pt x="0" y="0"/>
                  </a:moveTo>
                  <a:lnTo>
                    <a:pt x="860977" y="0"/>
                  </a:lnTo>
                  <a:lnTo>
                    <a:pt x="860977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 l="-13260" t="0" r="-1326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2213936" y="944356"/>
            <a:ext cx="10702279" cy="1394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66"/>
              </a:lnSpc>
            </a:pPr>
            <a:r>
              <a:rPr lang="en-US" sz="8309" b="true">
                <a:solidFill>
                  <a:srgbClr val="01003B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INTRODUCCIÓN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213936" y="3149535"/>
            <a:ext cx="7684068" cy="4962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4"/>
              </a:lnSpc>
            </a:pPr>
            <a:r>
              <a:rPr lang="en-US" sz="2502">
                <a:solidFill>
                  <a:srgbClr val="01003B"/>
                </a:solidFill>
                <a:latin typeface="Be Vietnam"/>
                <a:ea typeface="Be Vietnam"/>
                <a:cs typeface="Be Vietnam"/>
                <a:sym typeface="Be Vietnam"/>
              </a:rPr>
              <a:t>Fideval es una empresa dedicada a la administración de fideicomisos, encargada de gestionar información, contratos y procesos internos.</a:t>
            </a:r>
          </a:p>
          <a:p>
            <a:pPr algn="l">
              <a:lnSpc>
                <a:spcPts val="4004"/>
              </a:lnSpc>
            </a:pPr>
            <a:r>
              <a:rPr lang="en-US" sz="2502">
                <a:solidFill>
                  <a:srgbClr val="01003B"/>
                </a:solidFill>
                <a:latin typeface="Be Vietnam"/>
                <a:ea typeface="Be Vietnam"/>
                <a:cs typeface="Be Vietnam"/>
                <a:sym typeface="Be Vietnam"/>
              </a:rPr>
              <a:t> Debido al crecimiento de sus actividades, surge la necesidad de contar con un sistema que permita organizar y optimizar la gestión documental, mejorando la eficiencia y el control de la información.</a:t>
            </a:r>
          </a:p>
          <a:p>
            <a:pPr algn="l">
              <a:lnSpc>
                <a:spcPts val="4004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11083240" y="-278467"/>
            <a:ext cx="7479071" cy="11923156"/>
          </a:xfrm>
          <a:custGeom>
            <a:avLst/>
            <a:gdLst/>
            <a:ahLst/>
            <a:cxnLst/>
            <a:rect r="r" b="b" t="t" l="l"/>
            <a:pathLst>
              <a:path h="11923156" w="7479071">
                <a:moveTo>
                  <a:pt x="0" y="11923157"/>
                </a:moveTo>
                <a:lnTo>
                  <a:pt x="7479071" y="11923157"/>
                </a:lnTo>
                <a:lnTo>
                  <a:pt x="7479071" y="0"/>
                </a:lnTo>
                <a:lnTo>
                  <a:pt x="0" y="0"/>
                </a:lnTo>
                <a:lnTo>
                  <a:pt x="0" y="11923157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66957" y="2381013"/>
            <a:ext cx="10702279" cy="1394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66"/>
              </a:lnSpc>
            </a:pPr>
            <a:r>
              <a:rPr lang="en-US" sz="8309" b="true">
                <a:solidFill>
                  <a:srgbClr val="01003B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OBJETIVO GENERAL</a:t>
            </a:r>
          </a:p>
        </p:txBody>
      </p:sp>
      <p:grpSp>
        <p:nvGrpSpPr>
          <p:cNvPr name="Group 5" id="5"/>
          <p:cNvGrpSpPr/>
          <p:nvPr/>
        </p:nvGrpSpPr>
        <p:grpSpPr>
          <a:xfrm rot="5400000">
            <a:off x="-7193679" y="3239326"/>
            <a:ext cx="12549356" cy="3895402"/>
            <a:chOff x="0" y="0"/>
            <a:chExt cx="3305180" cy="10259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305180" cy="1025949"/>
            </a:xfrm>
            <a:custGeom>
              <a:avLst/>
              <a:gdLst/>
              <a:ahLst/>
              <a:cxnLst/>
              <a:rect r="r" b="b" t="t" l="l"/>
              <a:pathLst>
                <a:path h="1025949" w="3305180">
                  <a:moveTo>
                    <a:pt x="0" y="0"/>
                  </a:moveTo>
                  <a:lnTo>
                    <a:pt x="3305180" y="0"/>
                  </a:lnTo>
                  <a:lnTo>
                    <a:pt x="3305180" y="1025949"/>
                  </a:lnTo>
                  <a:lnTo>
                    <a:pt x="0" y="1025949"/>
                  </a:lnTo>
                  <a:close/>
                </a:path>
              </a:pathLst>
            </a:custGeom>
            <a:solidFill>
              <a:srgbClr val="19575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3305180" cy="1073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213936" y="4395723"/>
            <a:ext cx="7684068" cy="2470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4"/>
              </a:lnSpc>
            </a:pPr>
            <a:r>
              <a:rPr lang="en-US" sz="2502">
                <a:solidFill>
                  <a:srgbClr val="01003B"/>
                </a:solidFill>
                <a:latin typeface="Be Vietnam"/>
                <a:ea typeface="Be Vietnam"/>
                <a:cs typeface="Be Vietnam"/>
                <a:sym typeface="Be Vietnam"/>
              </a:rPr>
              <a:t>D</a:t>
            </a:r>
            <a:r>
              <a:rPr lang="en-US" sz="2502">
                <a:solidFill>
                  <a:srgbClr val="01003B"/>
                </a:solidFill>
                <a:latin typeface="Be Vietnam"/>
                <a:ea typeface="Be Vietnam"/>
                <a:cs typeface="Be Vietnam"/>
                <a:sym typeface="Be Vietnam"/>
              </a:rPr>
              <a:t>esarrollar un sistema para la gestión de contratos de fideicomisos en FideVal, aplicando el marco de trabajo ágil SCRUM, optimizando la administración interna y generación de contratos y reportes.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9222" t="-4461" r="-20094" b="-471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119743" y="10285618"/>
            <a:ext cx="20527487" cy="2731693"/>
            <a:chOff x="0" y="0"/>
            <a:chExt cx="5406416" cy="7194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06416" cy="719458"/>
            </a:xfrm>
            <a:custGeom>
              <a:avLst/>
              <a:gdLst/>
              <a:ahLst/>
              <a:cxnLst/>
              <a:rect r="r" b="b" t="t" l="l"/>
              <a:pathLst>
                <a:path h="719458" w="5406416">
                  <a:moveTo>
                    <a:pt x="0" y="0"/>
                  </a:moveTo>
                  <a:lnTo>
                    <a:pt x="5406416" y="0"/>
                  </a:lnTo>
                  <a:lnTo>
                    <a:pt x="5406416" y="719458"/>
                  </a:lnTo>
                  <a:lnTo>
                    <a:pt x="0" y="719458"/>
                  </a:lnTo>
                  <a:close/>
                </a:path>
              </a:pathLst>
            </a:custGeom>
            <a:solidFill>
              <a:srgbClr val="C9455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19050"/>
              <a:ext cx="5406416" cy="7004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644135" y="4865949"/>
            <a:ext cx="5005030" cy="154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01003B"/>
                </a:solidFill>
                <a:latin typeface="Be Vietnam"/>
                <a:ea typeface="Be Vietnam"/>
                <a:cs typeface="Be Vietnam"/>
                <a:sym typeface="Be Vietnam"/>
              </a:rPr>
              <a:t> Realizar la matriz de historias de usuario para la identificación de requisito funcionales y no funcionales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297213" y="4865949"/>
            <a:ext cx="4837408" cy="154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01003B"/>
                </a:solidFill>
                <a:latin typeface="Be Vietnam"/>
                <a:ea typeface="Be Vietnam"/>
                <a:cs typeface="Be Vietnam"/>
                <a:sym typeface="Be Vietnam"/>
              </a:rPr>
              <a:t> Realizar casos de pruebas y reporte de errores para el control y correcto funcionamiento del sistema.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208744" y="4865949"/>
            <a:ext cx="4837408" cy="1934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01003B"/>
                </a:solidFill>
                <a:latin typeface="Be Vietnam"/>
                <a:ea typeface="Be Vietnam"/>
                <a:cs typeface="Be Vietnam"/>
                <a:sym typeface="Be Vietnam"/>
              </a:rPr>
              <a:t> Desarrollar un sistema que permita crear, editar y guardar contratos, facilitando la gestión eficiente de la información dentro del sistema.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-651330" y="9296911"/>
            <a:ext cx="19615407" cy="3895402"/>
            <a:chOff x="0" y="0"/>
            <a:chExt cx="5166198" cy="10259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166198" cy="1025949"/>
            </a:xfrm>
            <a:custGeom>
              <a:avLst/>
              <a:gdLst/>
              <a:ahLst/>
              <a:cxnLst/>
              <a:rect r="r" b="b" t="t" l="l"/>
              <a:pathLst>
                <a:path h="1025949" w="5166198">
                  <a:moveTo>
                    <a:pt x="0" y="0"/>
                  </a:moveTo>
                  <a:lnTo>
                    <a:pt x="5166198" y="0"/>
                  </a:lnTo>
                  <a:lnTo>
                    <a:pt x="5166198" y="1025949"/>
                  </a:lnTo>
                  <a:lnTo>
                    <a:pt x="0" y="1025949"/>
                  </a:lnTo>
                  <a:close/>
                </a:path>
              </a:pathLst>
            </a:custGeom>
            <a:solidFill>
              <a:srgbClr val="195759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5166198" cy="1073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-207664" y="-2866702"/>
            <a:ext cx="19615407" cy="3895402"/>
            <a:chOff x="0" y="0"/>
            <a:chExt cx="5166198" cy="10259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166198" cy="1025949"/>
            </a:xfrm>
            <a:custGeom>
              <a:avLst/>
              <a:gdLst/>
              <a:ahLst/>
              <a:cxnLst/>
              <a:rect r="r" b="b" t="t" l="l"/>
              <a:pathLst>
                <a:path h="1025949" w="5166198">
                  <a:moveTo>
                    <a:pt x="0" y="0"/>
                  </a:moveTo>
                  <a:lnTo>
                    <a:pt x="5166198" y="0"/>
                  </a:lnTo>
                  <a:lnTo>
                    <a:pt x="5166198" y="1025949"/>
                  </a:lnTo>
                  <a:lnTo>
                    <a:pt x="0" y="1025949"/>
                  </a:lnTo>
                  <a:close/>
                </a:path>
              </a:pathLst>
            </a:custGeom>
            <a:solidFill>
              <a:srgbClr val="195759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5166198" cy="1073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5636791" y="2970292"/>
            <a:ext cx="7014417" cy="795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79"/>
              </a:lnSpc>
            </a:pPr>
            <a:r>
              <a:rPr lang="en-US" sz="4699" b="true">
                <a:solidFill>
                  <a:srgbClr val="01003B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OBJETIVOS ESPECÍFICO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9222" t="-4461" r="-20094" b="-471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119743" y="10285618"/>
            <a:ext cx="20527487" cy="2731693"/>
            <a:chOff x="0" y="0"/>
            <a:chExt cx="5406416" cy="7194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06416" cy="719458"/>
            </a:xfrm>
            <a:custGeom>
              <a:avLst/>
              <a:gdLst/>
              <a:ahLst/>
              <a:cxnLst/>
              <a:rect r="r" b="b" t="t" l="l"/>
              <a:pathLst>
                <a:path h="719458" w="5406416">
                  <a:moveTo>
                    <a:pt x="0" y="0"/>
                  </a:moveTo>
                  <a:lnTo>
                    <a:pt x="5406416" y="0"/>
                  </a:lnTo>
                  <a:lnTo>
                    <a:pt x="5406416" y="719458"/>
                  </a:lnTo>
                  <a:lnTo>
                    <a:pt x="0" y="719458"/>
                  </a:lnTo>
                  <a:close/>
                </a:path>
              </a:pathLst>
            </a:custGeom>
            <a:solidFill>
              <a:srgbClr val="C9455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19050"/>
              <a:ext cx="5406416" cy="7004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3260959"/>
            <a:ext cx="16230600" cy="4930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4" indent="-377822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01003B"/>
                </a:solidFill>
                <a:latin typeface="Be Vietnam"/>
                <a:ea typeface="Be Vietnam"/>
                <a:cs typeface="Be Vietnam"/>
                <a:sym typeface="Be Vietnam"/>
              </a:rPr>
              <a:t>El sistema almacenará información básica de los contratos fiduciarios y sus participantes.</a:t>
            </a:r>
          </a:p>
          <a:p>
            <a:pPr algn="l">
              <a:lnSpc>
                <a:spcPts val="4899"/>
              </a:lnSpc>
            </a:pPr>
          </a:p>
          <a:p>
            <a:pPr algn="l" marL="755644" indent="-377822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01003B"/>
                </a:solidFill>
                <a:latin typeface="Be Vietnam"/>
                <a:ea typeface="Be Vietnam"/>
                <a:cs typeface="Be Vietnam"/>
                <a:sym typeface="Be Vietnam"/>
              </a:rPr>
              <a:t>Permitirá crear y generar contratos utilizando plantillas oficiales.</a:t>
            </a:r>
          </a:p>
          <a:p>
            <a:pPr algn="l">
              <a:lnSpc>
                <a:spcPts val="4899"/>
              </a:lnSpc>
            </a:pPr>
          </a:p>
          <a:p>
            <a:pPr algn="l" marL="755644" indent="-377822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01003B"/>
                </a:solidFill>
                <a:latin typeface="Be Vietnam"/>
                <a:ea typeface="Be Vietnam"/>
                <a:cs typeface="Be Vietnam"/>
                <a:sym typeface="Be Vietnam"/>
              </a:rPr>
              <a:t>Los administradores y asistentes podrán consultar, editar y actualizar los registros existentes.</a:t>
            </a:r>
          </a:p>
          <a:p>
            <a:pPr algn="l">
              <a:lnSpc>
                <a:spcPts val="4899"/>
              </a:lnSpc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-651330" y="9296911"/>
            <a:ext cx="19615407" cy="3895402"/>
            <a:chOff x="0" y="0"/>
            <a:chExt cx="5166198" cy="10259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166198" cy="1025949"/>
            </a:xfrm>
            <a:custGeom>
              <a:avLst/>
              <a:gdLst/>
              <a:ahLst/>
              <a:cxnLst/>
              <a:rect r="r" b="b" t="t" l="l"/>
              <a:pathLst>
                <a:path h="1025949" w="5166198">
                  <a:moveTo>
                    <a:pt x="0" y="0"/>
                  </a:moveTo>
                  <a:lnTo>
                    <a:pt x="5166198" y="0"/>
                  </a:lnTo>
                  <a:lnTo>
                    <a:pt x="5166198" y="1025949"/>
                  </a:lnTo>
                  <a:lnTo>
                    <a:pt x="0" y="1025949"/>
                  </a:lnTo>
                  <a:close/>
                </a:path>
              </a:pathLst>
            </a:custGeom>
            <a:solidFill>
              <a:srgbClr val="19575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5166198" cy="1073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-207664" y="-2866702"/>
            <a:ext cx="19615407" cy="3895402"/>
            <a:chOff x="0" y="0"/>
            <a:chExt cx="5166198" cy="10259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166198" cy="1025949"/>
            </a:xfrm>
            <a:custGeom>
              <a:avLst/>
              <a:gdLst/>
              <a:ahLst/>
              <a:cxnLst/>
              <a:rect r="r" b="b" t="t" l="l"/>
              <a:pathLst>
                <a:path h="1025949" w="5166198">
                  <a:moveTo>
                    <a:pt x="0" y="0"/>
                  </a:moveTo>
                  <a:lnTo>
                    <a:pt x="5166198" y="0"/>
                  </a:lnTo>
                  <a:lnTo>
                    <a:pt x="5166198" y="1025949"/>
                  </a:lnTo>
                  <a:lnTo>
                    <a:pt x="0" y="1025949"/>
                  </a:lnTo>
                  <a:close/>
                </a:path>
              </a:pathLst>
            </a:custGeom>
            <a:solidFill>
              <a:srgbClr val="195759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5166198" cy="1073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167731" y="1425804"/>
            <a:ext cx="4864617" cy="1358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9"/>
              </a:lnSpc>
            </a:pPr>
            <a:r>
              <a:rPr lang="en-US" sz="7999" b="true">
                <a:solidFill>
                  <a:srgbClr val="01003B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ALCANCE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9222" t="-4461" r="-20094" b="-471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722539" y="3541513"/>
            <a:ext cx="7073850" cy="5716787"/>
            <a:chOff x="0" y="0"/>
            <a:chExt cx="2459354" cy="198754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59354" cy="1987546"/>
            </a:xfrm>
            <a:custGeom>
              <a:avLst/>
              <a:gdLst/>
              <a:ahLst/>
              <a:cxnLst/>
              <a:rect r="r" b="b" t="t" l="l"/>
              <a:pathLst>
                <a:path h="1987546" w="2459354">
                  <a:moveTo>
                    <a:pt x="2256154" y="0"/>
                  </a:moveTo>
                  <a:cubicBezTo>
                    <a:pt x="2368378" y="0"/>
                    <a:pt x="2459354" y="444927"/>
                    <a:pt x="2459354" y="993773"/>
                  </a:cubicBezTo>
                  <a:cubicBezTo>
                    <a:pt x="2459354" y="1542619"/>
                    <a:pt x="2368378" y="1987546"/>
                    <a:pt x="2256154" y="1987546"/>
                  </a:cubicBezTo>
                  <a:lnTo>
                    <a:pt x="203200" y="1987546"/>
                  </a:lnTo>
                  <a:cubicBezTo>
                    <a:pt x="90976" y="1987546"/>
                    <a:pt x="0" y="1542619"/>
                    <a:pt x="0" y="993773"/>
                  </a:cubicBezTo>
                  <a:cubicBezTo>
                    <a:pt x="0" y="444927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047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2459354" cy="20446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80"/>
                </a:lnSpc>
              </a:pPr>
            </a:p>
          </p:txBody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176184" y="3541513"/>
            <a:ext cx="9966714" cy="5716787"/>
            <a:chOff x="0" y="0"/>
            <a:chExt cx="7981950" cy="45783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765810" y="21590"/>
              <a:ext cx="6451600" cy="4326890"/>
            </a:xfrm>
            <a:custGeom>
              <a:avLst/>
              <a:gdLst/>
              <a:ahLst/>
              <a:cxnLst/>
              <a:rect r="r" b="b" t="t" l="l"/>
              <a:pathLst>
                <a:path h="4326890" w="6451600">
                  <a:moveTo>
                    <a:pt x="6224270" y="0"/>
                  </a:moveTo>
                  <a:lnTo>
                    <a:pt x="226060" y="0"/>
                  </a:lnTo>
                  <a:cubicBezTo>
                    <a:pt x="101600" y="0"/>
                    <a:pt x="0" y="101600"/>
                    <a:pt x="0" y="226060"/>
                  </a:cubicBezTo>
                  <a:lnTo>
                    <a:pt x="0" y="4326890"/>
                  </a:lnTo>
                  <a:lnTo>
                    <a:pt x="6451601" y="4326890"/>
                  </a:lnTo>
                  <a:lnTo>
                    <a:pt x="6451601" y="226060"/>
                  </a:lnTo>
                  <a:cubicBezTo>
                    <a:pt x="6450331" y="101600"/>
                    <a:pt x="6348731" y="0"/>
                    <a:pt x="6224270" y="0"/>
                  </a:cubicBezTo>
                  <a:close/>
                  <a:moveTo>
                    <a:pt x="6252210" y="4043680"/>
                  </a:moveTo>
                  <a:lnTo>
                    <a:pt x="196851" y="4043680"/>
                  </a:lnTo>
                  <a:lnTo>
                    <a:pt x="196851" y="255270"/>
                  </a:lnTo>
                  <a:lnTo>
                    <a:pt x="6252210" y="255270"/>
                  </a:lnTo>
                  <a:lnTo>
                    <a:pt x="6252210" y="404368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981950" cy="4542790"/>
            </a:xfrm>
            <a:custGeom>
              <a:avLst/>
              <a:gdLst/>
              <a:ahLst/>
              <a:cxnLst/>
              <a:rect r="r" b="b" t="t" l="l"/>
              <a:pathLst>
                <a:path h="4542790" w="7981950">
                  <a:moveTo>
                    <a:pt x="7239000" y="4348480"/>
                  </a:moveTo>
                  <a:lnTo>
                    <a:pt x="7239000" y="243840"/>
                  </a:lnTo>
                  <a:cubicBezTo>
                    <a:pt x="7239000" y="109220"/>
                    <a:pt x="7129780" y="0"/>
                    <a:pt x="6995160" y="0"/>
                  </a:cubicBezTo>
                  <a:lnTo>
                    <a:pt x="985520" y="0"/>
                  </a:lnTo>
                  <a:cubicBezTo>
                    <a:pt x="852170" y="0"/>
                    <a:pt x="742950" y="109220"/>
                    <a:pt x="742950" y="243840"/>
                  </a:cubicBezTo>
                  <a:lnTo>
                    <a:pt x="742950" y="4349750"/>
                  </a:lnTo>
                  <a:lnTo>
                    <a:pt x="0" y="4349750"/>
                  </a:lnTo>
                  <a:lnTo>
                    <a:pt x="0" y="4447540"/>
                  </a:lnTo>
                  <a:cubicBezTo>
                    <a:pt x="0" y="4500880"/>
                    <a:pt x="43180" y="4542790"/>
                    <a:pt x="95250" y="4542790"/>
                  </a:cubicBezTo>
                  <a:lnTo>
                    <a:pt x="7886700" y="4542790"/>
                  </a:lnTo>
                  <a:cubicBezTo>
                    <a:pt x="7940040" y="4542790"/>
                    <a:pt x="7981950" y="4499610"/>
                    <a:pt x="7981950" y="4447540"/>
                  </a:cubicBezTo>
                  <a:lnTo>
                    <a:pt x="7981950" y="4349750"/>
                  </a:lnTo>
                  <a:lnTo>
                    <a:pt x="7239000" y="4349750"/>
                  </a:lnTo>
                  <a:close/>
                  <a:moveTo>
                    <a:pt x="4519930" y="4348480"/>
                  </a:moveTo>
                  <a:lnTo>
                    <a:pt x="4519930" y="4349750"/>
                  </a:lnTo>
                  <a:cubicBezTo>
                    <a:pt x="4519930" y="4403090"/>
                    <a:pt x="4476750" y="4445000"/>
                    <a:pt x="4424680" y="4445000"/>
                  </a:cubicBezTo>
                  <a:lnTo>
                    <a:pt x="3557270" y="4445000"/>
                  </a:lnTo>
                  <a:cubicBezTo>
                    <a:pt x="3503930" y="4445000"/>
                    <a:pt x="3462020" y="4401820"/>
                    <a:pt x="3462020" y="4349750"/>
                  </a:cubicBezTo>
                  <a:lnTo>
                    <a:pt x="3462020" y="4348480"/>
                  </a:lnTo>
                  <a:lnTo>
                    <a:pt x="765810" y="4348480"/>
                  </a:lnTo>
                  <a:lnTo>
                    <a:pt x="765810" y="247650"/>
                  </a:lnTo>
                  <a:cubicBezTo>
                    <a:pt x="765810" y="123190"/>
                    <a:pt x="867410" y="21590"/>
                    <a:pt x="991870" y="21590"/>
                  </a:cubicBezTo>
                  <a:lnTo>
                    <a:pt x="6990080" y="21590"/>
                  </a:lnTo>
                  <a:cubicBezTo>
                    <a:pt x="7114539" y="21590"/>
                    <a:pt x="7216139" y="123190"/>
                    <a:pt x="7216139" y="247650"/>
                  </a:cubicBezTo>
                  <a:lnTo>
                    <a:pt x="7216139" y="4348480"/>
                  </a:lnTo>
                  <a:lnTo>
                    <a:pt x="4519930" y="4348480"/>
                  </a:lnTo>
                  <a:close/>
                </a:path>
              </a:pathLst>
            </a:custGeom>
            <a:solidFill>
              <a:srgbClr val="292929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3460750" y="4349750"/>
              <a:ext cx="1059180" cy="96520"/>
            </a:xfrm>
            <a:custGeom>
              <a:avLst/>
              <a:gdLst/>
              <a:ahLst/>
              <a:cxnLst/>
              <a:rect r="r" b="b" t="t" l="l"/>
              <a:pathLst>
                <a:path h="96520" w="1059180">
                  <a:moveTo>
                    <a:pt x="96520" y="96520"/>
                  </a:moveTo>
                  <a:lnTo>
                    <a:pt x="963930" y="96520"/>
                  </a:lnTo>
                  <a:cubicBezTo>
                    <a:pt x="1017270" y="96520"/>
                    <a:pt x="1059180" y="53340"/>
                    <a:pt x="1059180" y="1270"/>
                  </a:cubicBezTo>
                  <a:lnTo>
                    <a:pt x="1059180" y="0"/>
                  </a:lnTo>
                  <a:lnTo>
                    <a:pt x="0" y="0"/>
                  </a:lnTo>
                  <a:lnTo>
                    <a:pt x="0" y="1270"/>
                  </a:lnTo>
                  <a:cubicBezTo>
                    <a:pt x="0" y="53340"/>
                    <a:pt x="43180" y="96520"/>
                    <a:pt x="96520" y="96520"/>
                  </a:cubicBezTo>
                  <a:close/>
                </a:path>
              </a:pathLst>
            </a:custGeom>
            <a:solidFill>
              <a:srgbClr val="292929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63830" y="4542790"/>
              <a:ext cx="7654290" cy="35560"/>
            </a:xfrm>
            <a:custGeom>
              <a:avLst/>
              <a:gdLst/>
              <a:ahLst/>
              <a:cxnLst/>
              <a:rect r="r" b="b" t="t" l="l"/>
              <a:pathLst>
                <a:path h="35560" w="7654290">
                  <a:moveTo>
                    <a:pt x="0" y="0"/>
                  </a:moveTo>
                  <a:cubicBezTo>
                    <a:pt x="0" y="20320"/>
                    <a:pt x="16510" y="35560"/>
                    <a:pt x="35560" y="35560"/>
                  </a:cubicBezTo>
                  <a:lnTo>
                    <a:pt x="7618730" y="35560"/>
                  </a:lnTo>
                  <a:cubicBezTo>
                    <a:pt x="7639050" y="35560"/>
                    <a:pt x="7654290" y="19050"/>
                    <a:pt x="765429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292929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962660" y="276860"/>
              <a:ext cx="6055360" cy="3789680"/>
            </a:xfrm>
            <a:custGeom>
              <a:avLst/>
              <a:gdLst/>
              <a:ahLst/>
              <a:cxnLst/>
              <a:rect r="r" b="b" t="t" l="l"/>
              <a:pathLst>
                <a:path h="3789680" w="6055360">
                  <a:moveTo>
                    <a:pt x="0" y="0"/>
                  </a:moveTo>
                  <a:lnTo>
                    <a:pt x="6055360" y="0"/>
                  </a:lnTo>
                  <a:lnTo>
                    <a:pt x="6055360" y="3789680"/>
                  </a:lnTo>
                  <a:lnTo>
                    <a:pt x="0" y="3789680"/>
                  </a:lnTo>
                  <a:close/>
                </a:path>
              </a:pathLst>
            </a:custGeom>
            <a:blipFill>
              <a:blip r:embed="rId3"/>
              <a:stretch>
                <a:fillRect l="0" t="-42602" r="0" b="-42602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465791" y="3395198"/>
            <a:ext cx="1439976" cy="1439976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8CFAE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80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9801326" y="3541513"/>
            <a:ext cx="768908" cy="1109972"/>
          </a:xfrm>
          <a:custGeom>
            <a:avLst/>
            <a:gdLst/>
            <a:ahLst/>
            <a:cxnLst/>
            <a:rect r="r" b="b" t="t" l="l"/>
            <a:pathLst>
              <a:path h="1109972" w="768908">
                <a:moveTo>
                  <a:pt x="0" y="0"/>
                </a:moveTo>
                <a:lnTo>
                  <a:pt x="768907" y="0"/>
                </a:lnTo>
                <a:lnTo>
                  <a:pt x="768907" y="1109972"/>
                </a:lnTo>
                <a:lnTo>
                  <a:pt x="0" y="11099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135193" y="1386610"/>
            <a:ext cx="14661197" cy="1500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19"/>
              </a:lnSpc>
              <a:spcBef>
                <a:spcPct val="0"/>
              </a:spcBef>
            </a:pPr>
            <a:r>
              <a:rPr lang="en-US" b="true" sz="8799">
                <a:solidFill>
                  <a:srgbClr val="01003B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IDEAS A DEFENDER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905767" y="3563044"/>
            <a:ext cx="5456467" cy="551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0"/>
              </a:lnSpc>
            </a:pPr>
            <a:r>
              <a:rPr lang="en-US" sz="2000">
                <a:solidFill>
                  <a:srgbClr val="01003B"/>
                </a:solidFill>
                <a:latin typeface="Open Sans"/>
                <a:ea typeface="Open Sans"/>
                <a:cs typeface="Open Sans"/>
                <a:sym typeface="Open Sans"/>
              </a:rPr>
              <a:t>Soportado sobre una arquitectura modular y escalable, el sistema consolida la seguridad mediante autenticación robusta y asegura la estandarización legal con formularios institucionales validados. A nivel operativo, optimiza la gestión a través de búsqueda multinivel y control de versiones, garantizando la integridad de datos y la interoperabilidad mediante la exportación automática a formatos estándar.</a:t>
            </a:r>
          </a:p>
          <a:p>
            <a:pPr algn="l">
              <a:lnSpc>
                <a:spcPts val="4000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9222" t="-4461" r="-20094" b="-471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722362" y="1709851"/>
            <a:ext cx="8597943" cy="999161"/>
            <a:chOff x="0" y="0"/>
            <a:chExt cx="3497138" cy="406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497138" cy="406400"/>
            </a:xfrm>
            <a:custGeom>
              <a:avLst/>
              <a:gdLst/>
              <a:ahLst/>
              <a:cxnLst/>
              <a:rect r="r" b="b" t="t" l="l"/>
              <a:pathLst>
                <a:path h="406400" w="3497138">
                  <a:moveTo>
                    <a:pt x="3293938" y="0"/>
                  </a:moveTo>
                  <a:cubicBezTo>
                    <a:pt x="3406162" y="0"/>
                    <a:pt x="3497138" y="90976"/>
                    <a:pt x="3497138" y="203200"/>
                  </a:cubicBezTo>
                  <a:cubicBezTo>
                    <a:pt x="3497138" y="315424"/>
                    <a:pt x="3406162" y="406400"/>
                    <a:pt x="3293938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" cap="sq">
              <a:solidFill>
                <a:srgbClr val="48CFAE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3497138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8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931688" y="1709851"/>
            <a:ext cx="1020951" cy="1020951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3326B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8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7102537" y="1854630"/>
            <a:ext cx="750497" cy="731394"/>
          </a:xfrm>
          <a:custGeom>
            <a:avLst/>
            <a:gdLst/>
            <a:ahLst/>
            <a:cxnLst/>
            <a:rect r="r" b="b" t="t" l="l"/>
            <a:pathLst>
              <a:path h="731394" w="750497">
                <a:moveTo>
                  <a:pt x="0" y="0"/>
                </a:moveTo>
                <a:lnTo>
                  <a:pt x="750498" y="0"/>
                </a:lnTo>
                <a:lnTo>
                  <a:pt x="750498" y="731393"/>
                </a:lnTo>
                <a:lnTo>
                  <a:pt x="0" y="7313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8100000">
            <a:off x="-1149689" y="1908564"/>
            <a:ext cx="5400659" cy="5580517"/>
            <a:chOff x="0" y="0"/>
            <a:chExt cx="1028611" cy="106286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28611" cy="1062867"/>
            </a:xfrm>
            <a:custGeom>
              <a:avLst/>
              <a:gdLst/>
              <a:ahLst/>
              <a:cxnLst/>
              <a:rect r="r" b="b" t="t" l="l"/>
              <a:pathLst>
                <a:path h="1062867" w="1028611">
                  <a:moveTo>
                    <a:pt x="20069" y="0"/>
                  </a:moveTo>
                  <a:lnTo>
                    <a:pt x="1008542" y="0"/>
                  </a:lnTo>
                  <a:cubicBezTo>
                    <a:pt x="1019626" y="0"/>
                    <a:pt x="1028611" y="8985"/>
                    <a:pt x="1028611" y="20069"/>
                  </a:cubicBezTo>
                  <a:lnTo>
                    <a:pt x="1028611" y="1042798"/>
                  </a:lnTo>
                  <a:cubicBezTo>
                    <a:pt x="1028611" y="1053882"/>
                    <a:pt x="1019626" y="1062867"/>
                    <a:pt x="1008542" y="1062867"/>
                  </a:cubicBezTo>
                  <a:lnTo>
                    <a:pt x="20069" y="1062867"/>
                  </a:lnTo>
                  <a:cubicBezTo>
                    <a:pt x="8985" y="1062867"/>
                    <a:pt x="0" y="1053882"/>
                    <a:pt x="0" y="1042798"/>
                  </a:cubicBezTo>
                  <a:lnTo>
                    <a:pt x="0" y="20069"/>
                  </a:lnTo>
                  <a:cubicBezTo>
                    <a:pt x="0" y="8985"/>
                    <a:pt x="8985" y="0"/>
                    <a:pt x="2006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8CFAE">
                    <a:alpha val="100000"/>
                  </a:srgbClr>
                </a:gs>
                <a:gs pos="100000">
                  <a:srgbClr val="006D8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028611" cy="11104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8100000">
            <a:off x="-4062554" y="6610159"/>
            <a:ext cx="4742111" cy="4742111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22856" y="0"/>
                  </a:moveTo>
                  <a:lnTo>
                    <a:pt x="789944" y="0"/>
                  </a:lnTo>
                  <a:cubicBezTo>
                    <a:pt x="796006" y="0"/>
                    <a:pt x="801819" y="2408"/>
                    <a:pt x="806106" y="6694"/>
                  </a:cubicBezTo>
                  <a:cubicBezTo>
                    <a:pt x="810392" y="10981"/>
                    <a:pt x="812800" y="16794"/>
                    <a:pt x="812800" y="22856"/>
                  </a:cubicBezTo>
                  <a:lnTo>
                    <a:pt x="812800" y="789944"/>
                  </a:lnTo>
                  <a:cubicBezTo>
                    <a:pt x="812800" y="796006"/>
                    <a:pt x="810392" y="801819"/>
                    <a:pt x="806106" y="806106"/>
                  </a:cubicBezTo>
                  <a:cubicBezTo>
                    <a:pt x="801819" y="810392"/>
                    <a:pt x="796006" y="812800"/>
                    <a:pt x="789944" y="812800"/>
                  </a:cubicBezTo>
                  <a:lnTo>
                    <a:pt x="22856" y="812800"/>
                  </a:lnTo>
                  <a:cubicBezTo>
                    <a:pt x="16794" y="812800"/>
                    <a:pt x="10981" y="810392"/>
                    <a:pt x="6694" y="806106"/>
                  </a:cubicBezTo>
                  <a:cubicBezTo>
                    <a:pt x="2408" y="801819"/>
                    <a:pt x="0" y="796006"/>
                    <a:pt x="0" y="789944"/>
                  </a:cubicBezTo>
                  <a:lnTo>
                    <a:pt x="0" y="22856"/>
                  </a:lnTo>
                  <a:cubicBezTo>
                    <a:pt x="0" y="16794"/>
                    <a:pt x="2408" y="10981"/>
                    <a:pt x="6694" y="6694"/>
                  </a:cubicBezTo>
                  <a:cubicBezTo>
                    <a:pt x="10981" y="2408"/>
                    <a:pt x="16794" y="0"/>
                    <a:pt x="2285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8CFAE">
                    <a:alpha val="100000"/>
                  </a:srgbClr>
                </a:gs>
                <a:gs pos="100000">
                  <a:srgbClr val="006D8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2700000">
            <a:off x="1327767" y="8487634"/>
            <a:ext cx="987162" cy="987162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09796" y="0"/>
                  </a:moveTo>
                  <a:lnTo>
                    <a:pt x="703004" y="0"/>
                  </a:lnTo>
                  <a:cubicBezTo>
                    <a:pt x="732123" y="0"/>
                    <a:pt x="760051" y="11568"/>
                    <a:pt x="780641" y="32159"/>
                  </a:cubicBezTo>
                  <a:cubicBezTo>
                    <a:pt x="801232" y="52749"/>
                    <a:pt x="812800" y="80677"/>
                    <a:pt x="812800" y="109796"/>
                  </a:cubicBezTo>
                  <a:lnTo>
                    <a:pt x="812800" y="703004"/>
                  </a:lnTo>
                  <a:cubicBezTo>
                    <a:pt x="812800" y="732123"/>
                    <a:pt x="801232" y="760051"/>
                    <a:pt x="780641" y="780641"/>
                  </a:cubicBezTo>
                  <a:cubicBezTo>
                    <a:pt x="760051" y="801232"/>
                    <a:pt x="732123" y="812800"/>
                    <a:pt x="703004" y="812800"/>
                  </a:cubicBezTo>
                  <a:lnTo>
                    <a:pt x="109796" y="812800"/>
                  </a:lnTo>
                  <a:cubicBezTo>
                    <a:pt x="80677" y="812800"/>
                    <a:pt x="52749" y="801232"/>
                    <a:pt x="32159" y="780641"/>
                  </a:cubicBezTo>
                  <a:cubicBezTo>
                    <a:pt x="11568" y="760051"/>
                    <a:pt x="0" y="732123"/>
                    <a:pt x="0" y="703004"/>
                  </a:cubicBezTo>
                  <a:lnTo>
                    <a:pt x="0" y="109796"/>
                  </a:lnTo>
                  <a:cubicBezTo>
                    <a:pt x="0" y="80677"/>
                    <a:pt x="11568" y="52749"/>
                    <a:pt x="32159" y="32159"/>
                  </a:cubicBezTo>
                  <a:cubicBezTo>
                    <a:pt x="52749" y="11568"/>
                    <a:pt x="80677" y="0"/>
                    <a:pt x="109796" y="0"/>
                  </a:cubicBezTo>
                  <a:close/>
                </a:path>
              </a:pathLst>
            </a:custGeom>
            <a:solidFill>
              <a:srgbClr val="33326B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8100000">
            <a:off x="443724" y="-3776940"/>
            <a:ext cx="4742111" cy="4742111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22856" y="0"/>
                  </a:moveTo>
                  <a:lnTo>
                    <a:pt x="789944" y="0"/>
                  </a:lnTo>
                  <a:cubicBezTo>
                    <a:pt x="796006" y="0"/>
                    <a:pt x="801819" y="2408"/>
                    <a:pt x="806106" y="6694"/>
                  </a:cubicBezTo>
                  <a:cubicBezTo>
                    <a:pt x="810392" y="10981"/>
                    <a:pt x="812800" y="16794"/>
                    <a:pt x="812800" y="22856"/>
                  </a:cubicBezTo>
                  <a:lnTo>
                    <a:pt x="812800" y="789944"/>
                  </a:lnTo>
                  <a:cubicBezTo>
                    <a:pt x="812800" y="796006"/>
                    <a:pt x="810392" y="801819"/>
                    <a:pt x="806106" y="806106"/>
                  </a:cubicBezTo>
                  <a:cubicBezTo>
                    <a:pt x="801819" y="810392"/>
                    <a:pt x="796006" y="812800"/>
                    <a:pt x="789944" y="812800"/>
                  </a:cubicBezTo>
                  <a:lnTo>
                    <a:pt x="22856" y="812800"/>
                  </a:lnTo>
                  <a:cubicBezTo>
                    <a:pt x="16794" y="812800"/>
                    <a:pt x="10981" y="810392"/>
                    <a:pt x="6694" y="806106"/>
                  </a:cubicBezTo>
                  <a:cubicBezTo>
                    <a:pt x="2408" y="801819"/>
                    <a:pt x="0" y="796006"/>
                    <a:pt x="0" y="789944"/>
                  </a:cubicBezTo>
                  <a:lnTo>
                    <a:pt x="0" y="22856"/>
                  </a:lnTo>
                  <a:cubicBezTo>
                    <a:pt x="0" y="16794"/>
                    <a:pt x="2408" y="10981"/>
                    <a:pt x="6694" y="6694"/>
                  </a:cubicBezTo>
                  <a:cubicBezTo>
                    <a:pt x="10981" y="2408"/>
                    <a:pt x="16794" y="0"/>
                    <a:pt x="2285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8CFAE">
                    <a:alpha val="100000"/>
                  </a:srgbClr>
                </a:gs>
                <a:gs pos="100000">
                  <a:srgbClr val="006D8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2700000">
            <a:off x="-1751004" y="-602853"/>
            <a:ext cx="2695017" cy="2191248"/>
            <a:chOff x="0" y="0"/>
            <a:chExt cx="1579453" cy="128421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579453" cy="1284213"/>
            </a:xfrm>
            <a:custGeom>
              <a:avLst/>
              <a:gdLst/>
              <a:ahLst/>
              <a:cxnLst/>
              <a:rect r="r" b="b" t="t" l="l"/>
              <a:pathLst>
                <a:path h="1284213" w="1579453">
                  <a:moveTo>
                    <a:pt x="40218" y="0"/>
                  </a:moveTo>
                  <a:lnTo>
                    <a:pt x="1539236" y="0"/>
                  </a:lnTo>
                  <a:cubicBezTo>
                    <a:pt x="1561448" y="0"/>
                    <a:pt x="1579453" y="18006"/>
                    <a:pt x="1579453" y="40218"/>
                  </a:cubicBezTo>
                  <a:lnTo>
                    <a:pt x="1579453" y="1243995"/>
                  </a:lnTo>
                  <a:cubicBezTo>
                    <a:pt x="1579453" y="1254662"/>
                    <a:pt x="1575216" y="1264891"/>
                    <a:pt x="1567674" y="1272433"/>
                  </a:cubicBezTo>
                  <a:cubicBezTo>
                    <a:pt x="1560132" y="1279976"/>
                    <a:pt x="1549902" y="1284213"/>
                    <a:pt x="1539236" y="1284213"/>
                  </a:cubicBezTo>
                  <a:lnTo>
                    <a:pt x="40218" y="1284213"/>
                  </a:lnTo>
                  <a:cubicBezTo>
                    <a:pt x="18006" y="1284213"/>
                    <a:pt x="0" y="1266207"/>
                    <a:pt x="0" y="1243995"/>
                  </a:cubicBezTo>
                  <a:lnTo>
                    <a:pt x="0" y="40218"/>
                  </a:lnTo>
                  <a:cubicBezTo>
                    <a:pt x="0" y="18006"/>
                    <a:pt x="18006" y="0"/>
                    <a:pt x="40218" y="0"/>
                  </a:cubicBezTo>
                  <a:close/>
                </a:path>
              </a:pathLst>
            </a:custGeom>
            <a:solidFill>
              <a:srgbClr val="33326B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1579453" cy="13318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25" id="25"/>
          <p:cNvGrpSpPr>
            <a:grpSpLocks noChangeAspect="true"/>
          </p:cNvGrpSpPr>
          <p:nvPr/>
        </p:nvGrpSpPr>
        <p:grpSpPr>
          <a:xfrm rot="0">
            <a:off x="1123319" y="255344"/>
            <a:ext cx="5169885" cy="10229505"/>
            <a:chOff x="0" y="0"/>
            <a:chExt cx="2620010" cy="51841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5"/>
              <a:stretch>
                <a:fillRect l="-42569" t="0" r="-42569" b="0"/>
              </a:stretch>
            </a:blip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35" id="35"/>
          <p:cNvGrpSpPr/>
          <p:nvPr/>
        </p:nvGrpSpPr>
        <p:grpSpPr>
          <a:xfrm rot="2700000">
            <a:off x="744207" y="9791410"/>
            <a:ext cx="1386878" cy="1386878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78152" y="0"/>
                  </a:moveTo>
                  <a:lnTo>
                    <a:pt x="734648" y="0"/>
                  </a:lnTo>
                  <a:cubicBezTo>
                    <a:pt x="755375" y="0"/>
                    <a:pt x="775254" y="8234"/>
                    <a:pt x="789910" y="22890"/>
                  </a:cubicBezTo>
                  <a:cubicBezTo>
                    <a:pt x="804566" y="37546"/>
                    <a:pt x="812800" y="57425"/>
                    <a:pt x="812800" y="78152"/>
                  </a:cubicBezTo>
                  <a:lnTo>
                    <a:pt x="812800" y="734648"/>
                  </a:lnTo>
                  <a:cubicBezTo>
                    <a:pt x="812800" y="755375"/>
                    <a:pt x="804566" y="775254"/>
                    <a:pt x="789910" y="789910"/>
                  </a:cubicBezTo>
                  <a:cubicBezTo>
                    <a:pt x="775254" y="804566"/>
                    <a:pt x="755375" y="812800"/>
                    <a:pt x="734648" y="812800"/>
                  </a:cubicBezTo>
                  <a:lnTo>
                    <a:pt x="78152" y="812800"/>
                  </a:lnTo>
                  <a:cubicBezTo>
                    <a:pt x="57425" y="812800"/>
                    <a:pt x="37546" y="804566"/>
                    <a:pt x="22890" y="789910"/>
                  </a:cubicBezTo>
                  <a:cubicBezTo>
                    <a:pt x="8234" y="775254"/>
                    <a:pt x="0" y="755375"/>
                    <a:pt x="0" y="734648"/>
                  </a:cubicBezTo>
                  <a:lnTo>
                    <a:pt x="0" y="78152"/>
                  </a:lnTo>
                  <a:cubicBezTo>
                    <a:pt x="0" y="57425"/>
                    <a:pt x="8234" y="37546"/>
                    <a:pt x="22890" y="22890"/>
                  </a:cubicBezTo>
                  <a:cubicBezTo>
                    <a:pt x="37546" y="8234"/>
                    <a:pt x="57425" y="0"/>
                    <a:pt x="7815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8CFAE">
                    <a:alpha val="100000"/>
                  </a:srgbClr>
                </a:gs>
                <a:gs pos="100000">
                  <a:srgbClr val="006D83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8438514" y="3590536"/>
            <a:ext cx="7487309" cy="5006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0"/>
              </a:lnSpc>
            </a:pPr>
            <a:r>
              <a:rPr lang="en-US" sz="2000">
                <a:solidFill>
                  <a:srgbClr val="01003B"/>
                </a:solidFill>
                <a:latin typeface="Open Sans"/>
                <a:ea typeface="Open Sans"/>
                <a:cs typeface="Open Sans"/>
                <a:sym typeface="Open Sans"/>
              </a:rPr>
              <a:t>La implementación operativa de los ocho requerimientos funcionales optimizará la eficiencia en un 75%, centralizando la gestión documental mediante identificadores únicos y una arquitectura de seguridad robusta. Se garantizará la estandarización legal y la trazabilidad de datos a través de formularios institucionales diferenciados y un estricto control de versiones. Finalmente, la solución asegurará la accesibilidad y el cumplimiento normativo mediante herramientas de búsqueda avanzada y exportación automática.</a:t>
            </a:r>
          </a:p>
          <a:p>
            <a:pPr algn="l">
              <a:lnSpc>
                <a:spcPts val="4000"/>
              </a:lnSpc>
            </a:pPr>
          </a:p>
        </p:txBody>
      </p:sp>
      <p:sp>
        <p:nvSpPr>
          <p:cNvPr name="TextBox 39" id="39"/>
          <p:cNvSpPr txBox="true"/>
          <p:nvPr/>
        </p:nvSpPr>
        <p:spPr>
          <a:xfrm rot="0">
            <a:off x="8457564" y="1871095"/>
            <a:ext cx="6155496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01003B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RESULTADOS ESPERADOS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9222" t="-4461" r="-20094" b="-4717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1028700" y="2090737"/>
          <a:ext cx="16230600" cy="7896225"/>
        </p:xfrm>
        <a:graphic>
          <a:graphicData uri="http://schemas.openxmlformats.org/drawingml/2006/table">
            <a:tbl>
              <a:tblPr/>
              <a:tblGrid>
                <a:gridCol w="2927870"/>
                <a:gridCol w="2273530"/>
                <a:gridCol w="1603727"/>
                <a:gridCol w="1950541"/>
                <a:gridCol w="3326912"/>
                <a:gridCol w="1829362"/>
                <a:gridCol w="2318657"/>
              </a:tblGrid>
              <a:tr h="99556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000000"/>
                          </a:solidFill>
                          <a:latin typeface="Be Vietnam Ultra-Bold"/>
                          <a:ea typeface="Be Vietnam Ultra-Bold"/>
                          <a:cs typeface="Be Vietnam Ultra-Bold"/>
                          <a:sym typeface="Be Vietnam Ultra-Bold"/>
                        </a:rPr>
                        <a:t>¿POR QUÉ?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69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000000"/>
                          </a:solidFill>
                          <a:latin typeface="Be Vietnam Ultra-Bold"/>
                          <a:ea typeface="Be Vietnam Ultra-Bold"/>
                          <a:cs typeface="Be Vietnam Ultra-Bold"/>
                          <a:sym typeface="Be Vietnam Ultra-Bold"/>
                        </a:rPr>
                        <a:t>¿QUÉ?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69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000000"/>
                          </a:solidFill>
                          <a:latin typeface="Be Vietnam Ultra-Bold"/>
                          <a:ea typeface="Be Vietnam Ultra-Bold"/>
                          <a:cs typeface="Be Vietnam Ultra-Bold"/>
                          <a:sym typeface="Be Vietnam Ultra-Bold"/>
                        </a:rPr>
                        <a:t>¿CUÁNDO?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69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000000"/>
                          </a:solidFill>
                          <a:latin typeface="Be Vietnam Ultra-Bold"/>
                          <a:ea typeface="Be Vietnam Ultra-Bold"/>
                          <a:cs typeface="Be Vietnam Ultra-Bold"/>
                          <a:sym typeface="Be Vietnam Ultra-Bold"/>
                        </a:rPr>
                        <a:t>¿QUIÉN?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69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000000"/>
                          </a:solidFill>
                          <a:latin typeface="Be Vietnam Ultra-Bold"/>
                          <a:ea typeface="Be Vietnam Ultra-Bold"/>
                          <a:cs typeface="Be Vietnam Ultra-Bold"/>
                          <a:sym typeface="Be Vietnam Ultra-Bold"/>
                        </a:rPr>
                        <a:t>¿CÓMO?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69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000000"/>
                          </a:solidFill>
                          <a:latin typeface="Be Vietnam Ultra-Bold"/>
                          <a:ea typeface="Be Vietnam Ultra-Bold"/>
                          <a:cs typeface="Be Vietnam Ultra-Bold"/>
                          <a:sym typeface="Be Vietnam Ultra-Bold"/>
                        </a:rPr>
                        <a:t>% DE CUMPLIMIENTO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69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000000"/>
                          </a:solidFill>
                          <a:latin typeface="Be Vietnam Ultra-Bold"/>
                          <a:ea typeface="Be Vietnam Ultra-Bold"/>
                          <a:cs typeface="Be Vietnam Ultra-Bold"/>
                          <a:sym typeface="Be Vietnam Ultra-Bold"/>
                        </a:rPr>
                        <a:t>¿CUÁNTO?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699"/>
                    </a:solidFill>
                  </a:tcPr>
                </a:tc>
              </a:tr>
              <a:tr h="690065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El sistema permitirá a FideVAL centralizar la gestión de contratos fiduciarios, reduciendo tiempos operativos mediante automatización de procesos de validación, búsqueda y generación documental, garantizando integridad de datos y cumplimiento de estándares legales institucionales.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Soportado sobre una arquitectura modular, el sistema consolida la seguridad y estandarización legal con formularios validados. Optimiza la gestión mediante búsqueda multinivel, control de versiones y asegura la interoperabilidad con exportación automática.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OCTUBRE - FEBRERO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KEVIN ANDINO</a:t>
                      </a:r>
                      <a:endParaRPr lang="en-US" sz="1100"/>
                    </a:p>
                    <a:p>
                      <a:pPr algn="l">
                        <a:lnSpc>
                          <a:spcPts val="2999"/>
                        </a:lnSpc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LUIS CALLE</a:t>
                      </a:r>
                    </a:p>
                    <a:p>
                      <a:pPr algn="l">
                        <a:lnSpc>
                          <a:spcPts val="2999"/>
                        </a:lnSpc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DENISSE QUISHPE</a:t>
                      </a:r>
                    </a:p>
                    <a:p>
                      <a:pPr algn="l">
                        <a:lnSpc>
                          <a:spcPts val="2999"/>
                        </a:lnSpc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MADELLYN TASIPANTA</a:t>
                      </a: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Aplicación del marco ágil SCRUM 3 fases (Sprints):</a:t>
                      </a:r>
                      <a:endParaRPr lang="en-US" sz="1100"/>
                    </a:p>
                    <a:p>
                      <a:pPr algn="l">
                        <a:lnSpc>
                          <a:spcPts val="2999"/>
                        </a:lnSpc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 Seguridad y Autenticación.</a:t>
                      </a:r>
                    </a:p>
                    <a:p>
                      <a:pPr algn="l">
                        <a:lnSpc>
                          <a:spcPts val="2999"/>
                        </a:lnSpc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 Gestión de Contratos (CRUD).</a:t>
                      </a:r>
                    </a:p>
                    <a:p>
                      <a:pPr algn="l">
                        <a:lnSpc>
                          <a:spcPts val="2999"/>
                        </a:lnSpc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3. Reportes y Persistencia.</a:t>
                      </a:r>
                    </a:p>
                    <a:p>
                      <a:pPr algn="l">
                        <a:lnSpc>
                          <a:spcPts val="2999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100%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$2996,295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3"/>
                    </a:solidFill>
                  </a:tcPr>
                </a:tc>
              </a:tr>
            </a:tbl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742324" y="556575"/>
            <a:ext cx="16858409" cy="1077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40"/>
              </a:lnSpc>
            </a:pPr>
            <a:r>
              <a:rPr lang="en-US" b="true" sz="8000" spc="256">
                <a:solidFill>
                  <a:srgbClr val="01003B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MARCO DE TRABAJO 5W+2H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9222" t="-4461" r="-20094" b="-4717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0800000">
            <a:off x="-1397258" y="-2340370"/>
            <a:ext cx="21640247" cy="6653348"/>
            <a:chOff x="0" y="0"/>
            <a:chExt cx="5699489" cy="175232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699489" cy="1752322"/>
            </a:xfrm>
            <a:custGeom>
              <a:avLst/>
              <a:gdLst/>
              <a:ahLst/>
              <a:cxnLst/>
              <a:rect r="r" b="b" t="t" l="l"/>
              <a:pathLst>
                <a:path h="1752322" w="5699489">
                  <a:moveTo>
                    <a:pt x="0" y="0"/>
                  </a:moveTo>
                  <a:lnTo>
                    <a:pt x="5699489" y="0"/>
                  </a:lnTo>
                  <a:lnTo>
                    <a:pt x="5699489" y="1752322"/>
                  </a:lnTo>
                  <a:lnTo>
                    <a:pt x="0" y="1752322"/>
                  </a:lnTo>
                  <a:close/>
                </a:path>
              </a:pathLst>
            </a:custGeom>
            <a:solidFill>
              <a:srgbClr val="19575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699489" cy="17999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79345" y="4599328"/>
            <a:ext cx="3180660" cy="915695"/>
            <a:chOff x="0" y="0"/>
            <a:chExt cx="1555440" cy="44780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55440" cy="447803"/>
            </a:xfrm>
            <a:custGeom>
              <a:avLst/>
              <a:gdLst/>
              <a:ahLst/>
              <a:cxnLst/>
              <a:rect r="r" b="b" t="t" l="l"/>
              <a:pathLst>
                <a:path h="447803" w="1555440">
                  <a:moveTo>
                    <a:pt x="1352240" y="0"/>
                  </a:moveTo>
                  <a:cubicBezTo>
                    <a:pt x="1464465" y="0"/>
                    <a:pt x="1555440" y="100244"/>
                    <a:pt x="1555440" y="223902"/>
                  </a:cubicBezTo>
                  <a:cubicBezTo>
                    <a:pt x="1555440" y="347559"/>
                    <a:pt x="1464465" y="447803"/>
                    <a:pt x="1352240" y="447803"/>
                  </a:cubicBezTo>
                  <a:lnTo>
                    <a:pt x="203200" y="447803"/>
                  </a:lnTo>
                  <a:cubicBezTo>
                    <a:pt x="90976" y="447803"/>
                    <a:pt x="0" y="347559"/>
                    <a:pt x="0" y="223902"/>
                  </a:cubicBezTo>
                  <a:cubicBezTo>
                    <a:pt x="0" y="100244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  <a:ln w="85725" cap="sq">
              <a:solidFill>
                <a:srgbClr val="48CFAE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1555440" cy="5049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80"/>
                </a:lnSpc>
              </a:pPr>
              <a:r>
                <a:rPr lang="en-US" b="true" sz="3200">
                  <a:solidFill>
                    <a:srgbClr val="000000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Sprint 1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8100000">
            <a:off x="14765210" y="3424132"/>
            <a:ext cx="2419526" cy="2419526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4797" y="0"/>
                  </a:moveTo>
                  <a:lnTo>
                    <a:pt x="768003" y="0"/>
                  </a:lnTo>
                  <a:cubicBezTo>
                    <a:pt x="779884" y="0"/>
                    <a:pt x="791278" y="4720"/>
                    <a:pt x="799679" y="13121"/>
                  </a:cubicBezTo>
                  <a:cubicBezTo>
                    <a:pt x="808080" y="21522"/>
                    <a:pt x="812800" y="32916"/>
                    <a:pt x="812800" y="44797"/>
                  </a:cubicBezTo>
                  <a:lnTo>
                    <a:pt x="812800" y="768003"/>
                  </a:lnTo>
                  <a:cubicBezTo>
                    <a:pt x="812800" y="779884"/>
                    <a:pt x="808080" y="791278"/>
                    <a:pt x="799679" y="799679"/>
                  </a:cubicBezTo>
                  <a:cubicBezTo>
                    <a:pt x="791278" y="808080"/>
                    <a:pt x="779884" y="812800"/>
                    <a:pt x="768003" y="812800"/>
                  </a:cubicBezTo>
                  <a:lnTo>
                    <a:pt x="44797" y="812800"/>
                  </a:lnTo>
                  <a:cubicBezTo>
                    <a:pt x="32916" y="812800"/>
                    <a:pt x="21522" y="808080"/>
                    <a:pt x="13121" y="799679"/>
                  </a:cubicBezTo>
                  <a:cubicBezTo>
                    <a:pt x="4720" y="791278"/>
                    <a:pt x="0" y="779884"/>
                    <a:pt x="0" y="768003"/>
                  </a:cubicBezTo>
                  <a:lnTo>
                    <a:pt x="0" y="44797"/>
                  </a:lnTo>
                  <a:cubicBezTo>
                    <a:pt x="0" y="32916"/>
                    <a:pt x="4720" y="21522"/>
                    <a:pt x="13121" y="13121"/>
                  </a:cubicBezTo>
                  <a:cubicBezTo>
                    <a:pt x="21522" y="4720"/>
                    <a:pt x="32916" y="0"/>
                    <a:pt x="4479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8CFAE">
                    <a:alpha val="100000"/>
                  </a:srgbClr>
                </a:gs>
                <a:gs pos="100000">
                  <a:srgbClr val="006D83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8100000">
            <a:off x="11777297" y="-2592650"/>
            <a:ext cx="5453301" cy="5453301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9875" y="0"/>
                  </a:moveTo>
                  <a:lnTo>
                    <a:pt x="792925" y="0"/>
                  </a:lnTo>
                  <a:cubicBezTo>
                    <a:pt x="803901" y="0"/>
                    <a:pt x="812800" y="8899"/>
                    <a:pt x="812800" y="19875"/>
                  </a:cubicBezTo>
                  <a:lnTo>
                    <a:pt x="812800" y="792925"/>
                  </a:lnTo>
                  <a:cubicBezTo>
                    <a:pt x="812800" y="803901"/>
                    <a:pt x="803901" y="812800"/>
                    <a:pt x="792925" y="812800"/>
                  </a:cubicBezTo>
                  <a:lnTo>
                    <a:pt x="19875" y="812800"/>
                  </a:lnTo>
                  <a:cubicBezTo>
                    <a:pt x="8899" y="812800"/>
                    <a:pt x="0" y="803901"/>
                    <a:pt x="0" y="792925"/>
                  </a:cubicBezTo>
                  <a:lnTo>
                    <a:pt x="0" y="19875"/>
                  </a:lnTo>
                  <a:cubicBezTo>
                    <a:pt x="0" y="8899"/>
                    <a:pt x="8899" y="0"/>
                    <a:pt x="1987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8CFAE">
                    <a:alpha val="100000"/>
                  </a:srgbClr>
                </a:gs>
                <a:gs pos="100000">
                  <a:srgbClr val="006D83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-2700000">
            <a:off x="17288002" y="25272"/>
            <a:ext cx="5453301" cy="5453301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9875" y="0"/>
                  </a:moveTo>
                  <a:lnTo>
                    <a:pt x="792925" y="0"/>
                  </a:lnTo>
                  <a:cubicBezTo>
                    <a:pt x="803901" y="0"/>
                    <a:pt x="812800" y="8899"/>
                    <a:pt x="812800" y="19875"/>
                  </a:cubicBezTo>
                  <a:lnTo>
                    <a:pt x="812800" y="792925"/>
                  </a:lnTo>
                  <a:cubicBezTo>
                    <a:pt x="812800" y="803901"/>
                    <a:pt x="803901" y="812800"/>
                    <a:pt x="792925" y="812800"/>
                  </a:cubicBezTo>
                  <a:lnTo>
                    <a:pt x="19875" y="812800"/>
                  </a:lnTo>
                  <a:cubicBezTo>
                    <a:pt x="8899" y="812800"/>
                    <a:pt x="0" y="803901"/>
                    <a:pt x="0" y="792925"/>
                  </a:cubicBezTo>
                  <a:lnTo>
                    <a:pt x="0" y="19875"/>
                  </a:lnTo>
                  <a:cubicBezTo>
                    <a:pt x="0" y="8899"/>
                    <a:pt x="8899" y="0"/>
                    <a:pt x="1987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8CFAE">
                    <a:alpha val="100000"/>
                  </a:srgbClr>
                </a:gs>
                <a:gs pos="100000">
                  <a:srgbClr val="006D8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-8100000">
            <a:off x="15407368" y="2184317"/>
            <a:ext cx="1135210" cy="1135210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95477" y="0"/>
                  </a:moveTo>
                  <a:lnTo>
                    <a:pt x="717323" y="0"/>
                  </a:lnTo>
                  <a:cubicBezTo>
                    <a:pt x="742645" y="0"/>
                    <a:pt x="766930" y="10059"/>
                    <a:pt x="784835" y="27965"/>
                  </a:cubicBezTo>
                  <a:cubicBezTo>
                    <a:pt x="802741" y="45870"/>
                    <a:pt x="812800" y="70155"/>
                    <a:pt x="812800" y="95477"/>
                  </a:cubicBezTo>
                  <a:lnTo>
                    <a:pt x="812800" y="717323"/>
                  </a:lnTo>
                  <a:cubicBezTo>
                    <a:pt x="812800" y="742645"/>
                    <a:pt x="802741" y="766930"/>
                    <a:pt x="784835" y="784835"/>
                  </a:cubicBezTo>
                  <a:cubicBezTo>
                    <a:pt x="766930" y="802741"/>
                    <a:pt x="742645" y="812800"/>
                    <a:pt x="717323" y="812800"/>
                  </a:cubicBezTo>
                  <a:lnTo>
                    <a:pt x="95477" y="812800"/>
                  </a:lnTo>
                  <a:cubicBezTo>
                    <a:pt x="70155" y="812800"/>
                    <a:pt x="45870" y="802741"/>
                    <a:pt x="27965" y="784835"/>
                  </a:cubicBezTo>
                  <a:cubicBezTo>
                    <a:pt x="10059" y="766930"/>
                    <a:pt x="0" y="742645"/>
                    <a:pt x="0" y="717323"/>
                  </a:cubicBezTo>
                  <a:lnTo>
                    <a:pt x="0" y="95477"/>
                  </a:lnTo>
                  <a:cubicBezTo>
                    <a:pt x="0" y="70155"/>
                    <a:pt x="10059" y="45870"/>
                    <a:pt x="27965" y="27965"/>
                  </a:cubicBezTo>
                  <a:cubicBezTo>
                    <a:pt x="45870" y="10059"/>
                    <a:pt x="70155" y="0"/>
                    <a:pt x="95477" y="0"/>
                  </a:cubicBezTo>
                  <a:close/>
                </a:path>
              </a:pathLst>
            </a:custGeom>
            <a:solidFill>
              <a:srgbClr val="33326B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028700" y="1473011"/>
            <a:ext cx="9377403" cy="1076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49"/>
              </a:lnSpc>
            </a:pPr>
            <a:r>
              <a:rPr lang="en-US" b="true" sz="7912" spc="253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BACKLOG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28700" y="2713822"/>
            <a:ext cx="10701108" cy="907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4"/>
              </a:lnSpc>
            </a:pPr>
            <a:r>
              <a:rPr lang="en-US" sz="1753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El backl</a:t>
            </a:r>
            <a:r>
              <a:rPr lang="en-US" sz="1753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og del proyecto reúne los requisitos principales para la construcción del sistema de gestión de contratos de fideicomisos. La planificación está organizada en Sprints, y cada requisito posee prioridad alta, dado que forma parte del núcleo funcional del sistema.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5105619" y="4599328"/>
            <a:ext cx="3166835" cy="915695"/>
            <a:chOff x="0" y="0"/>
            <a:chExt cx="1548680" cy="44780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548680" cy="447803"/>
            </a:xfrm>
            <a:custGeom>
              <a:avLst/>
              <a:gdLst/>
              <a:ahLst/>
              <a:cxnLst/>
              <a:rect r="r" b="b" t="t" l="l"/>
              <a:pathLst>
                <a:path h="447803" w="1548680">
                  <a:moveTo>
                    <a:pt x="1345480" y="0"/>
                  </a:moveTo>
                  <a:cubicBezTo>
                    <a:pt x="1457704" y="0"/>
                    <a:pt x="1548680" y="100244"/>
                    <a:pt x="1548680" y="223902"/>
                  </a:cubicBezTo>
                  <a:cubicBezTo>
                    <a:pt x="1548680" y="347559"/>
                    <a:pt x="1457704" y="447803"/>
                    <a:pt x="1345480" y="447803"/>
                  </a:cubicBezTo>
                  <a:lnTo>
                    <a:pt x="203200" y="447803"/>
                  </a:lnTo>
                  <a:cubicBezTo>
                    <a:pt x="90976" y="447803"/>
                    <a:pt x="0" y="347559"/>
                    <a:pt x="0" y="223902"/>
                  </a:cubicBezTo>
                  <a:cubicBezTo>
                    <a:pt x="0" y="100244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  <a:ln w="85725" cap="sq">
              <a:solidFill>
                <a:srgbClr val="48CFAE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1548680" cy="5049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80"/>
                </a:lnSpc>
              </a:pPr>
              <a:r>
                <a:rPr lang="en-US" b="true" sz="3200">
                  <a:solidFill>
                    <a:srgbClr val="000000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Sprint 2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314992" y="5753748"/>
            <a:ext cx="4450839" cy="3224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3"/>
              </a:lnSpc>
            </a:pPr>
            <a:r>
              <a:rPr lang="en-US" sz="2609">
                <a:solidFill>
                  <a:srgbClr val="01003B"/>
                </a:solidFill>
                <a:latin typeface="Be Vietnam"/>
                <a:ea typeface="Be Vietnam"/>
                <a:cs typeface="Be Vietnam"/>
                <a:sym typeface="Be Vietnam"/>
              </a:rPr>
              <a:t>En este sprint se implementan las funciones básicas que permiten al administrador ingresar al sistema y gestionar su perfil.</a:t>
            </a:r>
          </a:p>
          <a:p>
            <a:pPr algn="l">
              <a:lnSpc>
                <a:spcPts val="3653"/>
              </a:lnSpc>
            </a:pPr>
            <a:r>
              <a:rPr lang="en-US" sz="2609">
                <a:solidFill>
                  <a:srgbClr val="01003B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972027" y="5744223"/>
            <a:ext cx="4171973" cy="2506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77"/>
              </a:lnSpc>
            </a:pPr>
            <a:r>
              <a:rPr lang="en-US" sz="2841">
                <a:solidFill>
                  <a:srgbClr val="01003B"/>
                </a:solidFill>
                <a:latin typeface="Be Vietnam"/>
                <a:ea typeface="Be Vietnam"/>
                <a:cs typeface="Be Vietnam"/>
                <a:sym typeface="Be Vietnam"/>
              </a:rPr>
              <a:t>Este sprint incorpora la funcionalidad base del sistema: el ingreso y administración de contratos.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618068" y="4599328"/>
            <a:ext cx="3393424" cy="915695"/>
            <a:chOff x="0" y="0"/>
            <a:chExt cx="1659489" cy="44780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659489" cy="447803"/>
            </a:xfrm>
            <a:custGeom>
              <a:avLst/>
              <a:gdLst/>
              <a:ahLst/>
              <a:cxnLst/>
              <a:rect r="r" b="b" t="t" l="l"/>
              <a:pathLst>
                <a:path h="447803" w="1659489">
                  <a:moveTo>
                    <a:pt x="1456289" y="0"/>
                  </a:moveTo>
                  <a:cubicBezTo>
                    <a:pt x="1568513" y="0"/>
                    <a:pt x="1659489" y="100244"/>
                    <a:pt x="1659489" y="223902"/>
                  </a:cubicBezTo>
                  <a:cubicBezTo>
                    <a:pt x="1659489" y="347559"/>
                    <a:pt x="1568513" y="447803"/>
                    <a:pt x="1456289" y="447803"/>
                  </a:cubicBezTo>
                  <a:lnTo>
                    <a:pt x="203200" y="447803"/>
                  </a:lnTo>
                  <a:cubicBezTo>
                    <a:pt x="90976" y="447803"/>
                    <a:pt x="0" y="347559"/>
                    <a:pt x="0" y="223902"/>
                  </a:cubicBezTo>
                  <a:cubicBezTo>
                    <a:pt x="0" y="100244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  <a:ln w="85725" cap="sq">
              <a:solidFill>
                <a:srgbClr val="48CFAE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57150"/>
              <a:ext cx="1659489" cy="5049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80"/>
                </a:lnSpc>
              </a:pPr>
              <a:r>
                <a:rPr lang="en-US" b="true" sz="3200">
                  <a:solidFill>
                    <a:srgbClr val="000000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Sprint 3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4460906" y="4599328"/>
            <a:ext cx="3028134" cy="915695"/>
            <a:chOff x="0" y="0"/>
            <a:chExt cx="1480850" cy="44780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480850" cy="447803"/>
            </a:xfrm>
            <a:custGeom>
              <a:avLst/>
              <a:gdLst/>
              <a:ahLst/>
              <a:cxnLst/>
              <a:rect r="r" b="b" t="t" l="l"/>
              <a:pathLst>
                <a:path h="447803" w="1480850">
                  <a:moveTo>
                    <a:pt x="1277650" y="0"/>
                  </a:moveTo>
                  <a:cubicBezTo>
                    <a:pt x="1389875" y="0"/>
                    <a:pt x="1480850" y="100244"/>
                    <a:pt x="1480850" y="223902"/>
                  </a:cubicBezTo>
                  <a:cubicBezTo>
                    <a:pt x="1480850" y="347559"/>
                    <a:pt x="1389875" y="447803"/>
                    <a:pt x="1277650" y="447803"/>
                  </a:cubicBezTo>
                  <a:lnTo>
                    <a:pt x="203200" y="447803"/>
                  </a:lnTo>
                  <a:cubicBezTo>
                    <a:pt x="90976" y="447803"/>
                    <a:pt x="0" y="347559"/>
                    <a:pt x="0" y="223902"/>
                  </a:cubicBezTo>
                  <a:cubicBezTo>
                    <a:pt x="0" y="100244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  <a:ln w="85725" cap="sq">
              <a:solidFill>
                <a:srgbClr val="48CFAE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57150"/>
              <a:ext cx="1480850" cy="5049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80"/>
                </a:lnSpc>
              </a:pPr>
              <a:r>
                <a:rPr lang="en-US" b="true" sz="3200">
                  <a:solidFill>
                    <a:srgbClr val="000000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Sprint 4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9267155" y="5753748"/>
            <a:ext cx="4311048" cy="3723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3"/>
              </a:lnSpc>
            </a:pPr>
            <a:r>
              <a:rPr lang="en-US" sz="2337">
                <a:solidFill>
                  <a:srgbClr val="01003B"/>
                </a:solidFill>
                <a:latin typeface="Be Vietnam"/>
                <a:ea typeface="Be Vietnam"/>
                <a:cs typeface="Be Vietnam"/>
                <a:sym typeface="Be Vietnam"/>
              </a:rPr>
              <a:t>Implementa el ciclo completo de vida de los contratos mediante la persistencia en MongoDB (guardar permanentemente), y exportar los documentos como archivos  en formato PDF  o Excel  con vistas previas antes de descargar.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4313213" y="5763273"/>
            <a:ext cx="3323521" cy="4070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Proporciona funcionalidad para actualizar las credenciales de acceso al sistema, permitiendo cambiar tanto el nombre de usuario como la contraseña mediante un proceso seguro que valida la contraseña actual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9222" t="-4461" r="-20094" b="-471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119743" y="10285618"/>
            <a:ext cx="20527487" cy="2731693"/>
            <a:chOff x="0" y="0"/>
            <a:chExt cx="5406416" cy="7194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06416" cy="719458"/>
            </a:xfrm>
            <a:custGeom>
              <a:avLst/>
              <a:gdLst/>
              <a:ahLst/>
              <a:cxnLst/>
              <a:rect r="r" b="b" t="t" l="l"/>
              <a:pathLst>
                <a:path h="719458" w="5406416">
                  <a:moveTo>
                    <a:pt x="0" y="0"/>
                  </a:moveTo>
                  <a:lnTo>
                    <a:pt x="5406416" y="0"/>
                  </a:lnTo>
                  <a:lnTo>
                    <a:pt x="5406416" y="719458"/>
                  </a:lnTo>
                  <a:lnTo>
                    <a:pt x="0" y="719458"/>
                  </a:lnTo>
                  <a:close/>
                </a:path>
              </a:pathLst>
            </a:custGeom>
            <a:solidFill>
              <a:srgbClr val="C9455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19050"/>
              <a:ext cx="5406416" cy="7004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651330" y="9296911"/>
            <a:ext cx="19615407" cy="3895402"/>
            <a:chOff x="0" y="0"/>
            <a:chExt cx="5166198" cy="10259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66198" cy="1025949"/>
            </a:xfrm>
            <a:custGeom>
              <a:avLst/>
              <a:gdLst/>
              <a:ahLst/>
              <a:cxnLst/>
              <a:rect r="r" b="b" t="t" l="l"/>
              <a:pathLst>
                <a:path h="1025949" w="5166198">
                  <a:moveTo>
                    <a:pt x="0" y="0"/>
                  </a:moveTo>
                  <a:lnTo>
                    <a:pt x="5166198" y="0"/>
                  </a:lnTo>
                  <a:lnTo>
                    <a:pt x="5166198" y="1025949"/>
                  </a:lnTo>
                  <a:lnTo>
                    <a:pt x="0" y="1025949"/>
                  </a:lnTo>
                  <a:close/>
                </a:path>
              </a:pathLst>
            </a:custGeom>
            <a:solidFill>
              <a:srgbClr val="19575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166198" cy="1073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2451286" y="1274965"/>
            <a:ext cx="2794748" cy="3440295"/>
          </a:xfrm>
          <a:custGeom>
            <a:avLst/>
            <a:gdLst/>
            <a:ahLst/>
            <a:cxnLst/>
            <a:rect r="r" b="b" t="t" l="l"/>
            <a:pathLst>
              <a:path h="3440295" w="2794748">
                <a:moveTo>
                  <a:pt x="0" y="0"/>
                </a:moveTo>
                <a:lnTo>
                  <a:pt x="2794747" y="0"/>
                </a:lnTo>
                <a:lnTo>
                  <a:pt x="2794747" y="3440295"/>
                </a:lnTo>
                <a:lnTo>
                  <a:pt x="0" y="34402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456948" y="5021469"/>
            <a:ext cx="6338094" cy="3969232"/>
          </a:xfrm>
          <a:custGeom>
            <a:avLst/>
            <a:gdLst/>
            <a:ahLst/>
            <a:cxnLst/>
            <a:rect r="r" b="b" t="t" l="l"/>
            <a:pathLst>
              <a:path h="3969232" w="6338094">
                <a:moveTo>
                  <a:pt x="0" y="0"/>
                </a:moveTo>
                <a:lnTo>
                  <a:pt x="6338094" y="0"/>
                </a:lnTo>
                <a:lnTo>
                  <a:pt x="6338094" y="3969232"/>
                </a:lnTo>
                <a:lnTo>
                  <a:pt x="0" y="39692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366361" y="3303905"/>
            <a:ext cx="6051553" cy="154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</a:p>
          <a:p>
            <a:pPr algn="l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01003B"/>
                </a:solidFill>
                <a:latin typeface="Be Vietnam"/>
                <a:ea typeface="Be Vietnam"/>
                <a:cs typeface="Be Vietnam"/>
                <a:sym typeface="Be Vietnam"/>
              </a:rPr>
              <a:t>Desarrollo del login.</a:t>
            </a:r>
          </a:p>
          <a:p>
            <a:pPr algn="l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01003B"/>
                </a:solidFill>
                <a:latin typeface="Be Vietnam"/>
                <a:ea typeface="Be Vietnam"/>
                <a:cs typeface="Be Vietnam"/>
                <a:sym typeface="Be Vietnam"/>
              </a:rPr>
              <a:t>Garantiza acceso seguro y controlado</a:t>
            </a:r>
          </a:p>
          <a:p>
            <a:pPr algn="l">
              <a:lnSpc>
                <a:spcPts val="3080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418537" y="1605272"/>
            <a:ext cx="12207458" cy="1527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68"/>
              </a:lnSpc>
            </a:pPr>
            <a:r>
              <a:rPr lang="en-US" sz="4405" b="true">
                <a:solidFill>
                  <a:srgbClr val="01003B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REQ001 – AUTENTICACIÓN DEL ADMINISTRADOR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18537" y="6806949"/>
            <a:ext cx="4837408" cy="1934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01003B"/>
                </a:solidFill>
                <a:latin typeface="Be Vietnam"/>
                <a:ea typeface="Be Vietnam"/>
                <a:cs typeface="Be Vietnam"/>
                <a:sym typeface="Be Vietnam"/>
              </a:rPr>
              <a:t>Módulo para visualizar y actualizar datos del usuario.</a:t>
            </a:r>
          </a:p>
          <a:p>
            <a:pPr algn="l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01003B"/>
                </a:solidFill>
                <a:latin typeface="Be Vietnam"/>
                <a:ea typeface="Be Vietnam"/>
                <a:cs typeface="Be Vietnam"/>
                <a:sym typeface="Be Vietnam"/>
              </a:rPr>
              <a:t>Permite mantener información coherente y actualizada.</a:t>
            </a:r>
          </a:p>
          <a:p>
            <a:pPr algn="l">
              <a:lnSpc>
                <a:spcPts val="3080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343526"/>
            <a:ext cx="15052609" cy="795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79"/>
              </a:lnSpc>
            </a:pPr>
            <a:r>
              <a:rPr lang="en-US" sz="4699" b="true">
                <a:solidFill>
                  <a:srgbClr val="01003B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SPRINT 1 – ACCESO Y GESTIÓN BÁSICA DEL USUARIO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14186" y="4762500"/>
            <a:ext cx="8221762" cy="1527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68"/>
              </a:lnSpc>
            </a:pPr>
            <a:r>
              <a:rPr lang="en-US" sz="4405" b="true">
                <a:solidFill>
                  <a:srgbClr val="01003B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REQ002 – REVISIÓN Y EDICIÓN DEL PERFIL DE USUARIO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9222" t="-4461" r="-20094" b="-471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119743" y="10285618"/>
            <a:ext cx="20527487" cy="2731693"/>
            <a:chOff x="0" y="0"/>
            <a:chExt cx="5406416" cy="7194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06416" cy="719458"/>
            </a:xfrm>
            <a:custGeom>
              <a:avLst/>
              <a:gdLst/>
              <a:ahLst/>
              <a:cxnLst/>
              <a:rect r="r" b="b" t="t" l="l"/>
              <a:pathLst>
                <a:path h="719458" w="5406416">
                  <a:moveTo>
                    <a:pt x="0" y="0"/>
                  </a:moveTo>
                  <a:lnTo>
                    <a:pt x="5406416" y="0"/>
                  </a:lnTo>
                  <a:lnTo>
                    <a:pt x="5406416" y="719458"/>
                  </a:lnTo>
                  <a:lnTo>
                    <a:pt x="0" y="719458"/>
                  </a:lnTo>
                  <a:close/>
                </a:path>
              </a:pathLst>
            </a:custGeom>
            <a:solidFill>
              <a:srgbClr val="C9455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19050"/>
              <a:ext cx="5406416" cy="7004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651330" y="9296911"/>
            <a:ext cx="19615407" cy="3895402"/>
            <a:chOff x="0" y="0"/>
            <a:chExt cx="5166198" cy="10259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66198" cy="1025949"/>
            </a:xfrm>
            <a:custGeom>
              <a:avLst/>
              <a:gdLst/>
              <a:ahLst/>
              <a:cxnLst/>
              <a:rect r="r" b="b" t="t" l="l"/>
              <a:pathLst>
                <a:path h="1025949" w="5166198">
                  <a:moveTo>
                    <a:pt x="0" y="0"/>
                  </a:moveTo>
                  <a:lnTo>
                    <a:pt x="5166198" y="0"/>
                  </a:lnTo>
                  <a:lnTo>
                    <a:pt x="5166198" y="1025949"/>
                  </a:lnTo>
                  <a:lnTo>
                    <a:pt x="0" y="1025949"/>
                  </a:lnTo>
                  <a:close/>
                </a:path>
              </a:pathLst>
            </a:custGeom>
            <a:solidFill>
              <a:srgbClr val="19575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166198" cy="1073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1333848" y="2840019"/>
            <a:ext cx="5925452" cy="4688546"/>
          </a:xfrm>
          <a:custGeom>
            <a:avLst/>
            <a:gdLst/>
            <a:ahLst/>
            <a:cxnLst/>
            <a:rect r="r" b="b" t="t" l="l"/>
            <a:pathLst>
              <a:path h="4688546" w="5925452">
                <a:moveTo>
                  <a:pt x="0" y="0"/>
                </a:moveTo>
                <a:lnTo>
                  <a:pt x="5925452" y="0"/>
                </a:lnTo>
                <a:lnTo>
                  <a:pt x="5925452" y="4688546"/>
                </a:lnTo>
                <a:lnTo>
                  <a:pt x="0" y="46885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297949" y="3321659"/>
            <a:ext cx="4825477" cy="304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5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2275995"/>
            <a:ext cx="9734163" cy="596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18"/>
              </a:lnSpc>
            </a:pPr>
            <a:r>
              <a:rPr lang="en-US" sz="3513" b="true">
                <a:solidFill>
                  <a:srgbClr val="01003B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REQ003 – INGRESO DE DATOS DEL CONTRATO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18537" y="588327"/>
            <a:ext cx="15208474" cy="795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79"/>
              </a:lnSpc>
            </a:pPr>
            <a:r>
              <a:rPr lang="en-US" sz="4699" b="true">
                <a:solidFill>
                  <a:srgbClr val="01003B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SPRINT 2 – GESTIÓN COMPLETA DE CONTRATOS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3835493"/>
            <a:ext cx="9734163" cy="596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18"/>
              </a:lnSpc>
            </a:pPr>
            <a:r>
              <a:rPr lang="en-US" sz="3513" b="true">
                <a:solidFill>
                  <a:srgbClr val="01003B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REQ004 – BÚSQUEDA DE CONTRATOS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5534908"/>
            <a:ext cx="9734163" cy="596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18"/>
              </a:lnSpc>
            </a:pPr>
            <a:r>
              <a:rPr lang="en-US" sz="3513" b="true">
                <a:solidFill>
                  <a:srgbClr val="01003B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REQ005 – MODIFICACIÓN DE CONTRATOS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7095066"/>
            <a:ext cx="9734163" cy="596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18"/>
              </a:lnSpc>
            </a:pPr>
            <a:r>
              <a:rPr lang="en-US" sz="3513" b="true">
                <a:solidFill>
                  <a:srgbClr val="01003B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REQ006 – ELIMINACIÓN DE CONTRATOS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3154336"/>
            <a:ext cx="7724825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01003B"/>
                </a:solidFill>
                <a:latin typeface="Be Vietnam"/>
                <a:ea typeface="Be Vietnam"/>
                <a:cs typeface="Be Vietnam"/>
                <a:sym typeface="Be Vietnam"/>
              </a:rPr>
              <a:t>C</a:t>
            </a:r>
            <a:r>
              <a:rPr lang="en-US" sz="2200">
                <a:solidFill>
                  <a:srgbClr val="01003B"/>
                </a:solidFill>
                <a:latin typeface="Be Vietnam"/>
                <a:ea typeface="Be Vietnam"/>
                <a:cs typeface="Be Vietnam"/>
                <a:sym typeface="Be Vietnam"/>
              </a:rPr>
              <a:t>aptura de información en formulario estructurado.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4811547"/>
            <a:ext cx="7724825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01003B"/>
                </a:solidFill>
                <a:latin typeface="Be Vietnam"/>
                <a:ea typeface="Be Vietnam"/>
                <a:cs typeface="Be Vietnam"/>
                <a:sym typeface="Be Vietnam"/>
              </a:rPr>
              <a:t>Permite loc</a:t>
            </a:r>
            <a:r>
              <a:rPr lang="en-US" sz="2200">
                <a:solidFill>
                  <a:srgbClr val="01003B"/>
                </a:solidFill>
                <a:latin typeface="Be Vietnam"/>
                <a:ea typeface="Be Vietnam"/>
                <a:cs typeface="Be Vietnam"/>
                <a:sym typeface="Be Vietnam"/>
              </a:rPr>
              <a:t>alizar contratos específicos mediante filtros.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6512771"/>
            <a:ext cx="7724825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01003B"/>
                </a:solidFill>
                <a:latin typeface="Be Vietnam"/>
                <a:ea typeface="Be Vietnam"/>
                <a:cs typeface="Be Vietnam"/>
                <a:sym typeface="Be Vietnam"/>
              </a:rPr>
              <a:t>Se h</a:t>
            </a:r>
            <a:r>
              <a:rPr lang="en-US" sz="2200">
                <a:solidFill>
                  <a:srgbClr val="01003B"/>
                </a:solidFill>
                <a:latin typeface="Be Vietnam"/>
                <a:ea typeface="Be Vietnam"/>
                <a:cs typeface="Be Vietnam"/>
                <a:sym typeface="Be Vietnam"/>
              </a:rPr>
              <a:t>abilita la edición de contratos ya registrados.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7885791"/>
            <a:ext cx="7724825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01003B"/>
                </a:solidFill>
                <a:latin typeface="Be Vietnam"/>
                <a:ea typeface="Be Vietnam"/>
                <a:cs typeface="Be Vietnam"/>
                <a:sym typeface="Be Vietnam"/>
              </a:rPr>
              <a:t>F</a:t>
            </a:r>
            <a:r>
              <a:rPr lang="en-US" sz="2200">
                <a:solidFill>
                  <a:srgbClr val="01003B"/>
                </a:solidFill>
                <a:latin typeface="Be Vietnam"/>
                <a:ea typeface="Be Vietnam"/>
                <a:cs typeface="Be Vietnam"/>
                <a:sym typeface="Be Vietnam"/>
              </a:rPr>
              <a:t>acilita depurar información removiendo contratos innecesarios.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9222" t="-4461" r="-20094" b="-471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119743" y="10285618"/>
            <a:ext cx="20527487" cy="2731693"/>
            <a:chOff x="0" y="0"/>
            <a:chExt cx="5406416" cy="7194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06416" cy="719458"/>
            </a:xfrm>
            <a:custGeom>
              <a:avLst/>
              <a:gdLst/>
              <a:ahLst/>
              <a:cxnLst/>
              <a:rect r="r" b="b" t="t" l="l"/>
              <a:pathLst>
                <a:path h="719458" w="5406416">
                  <a:moveTo>
                    <a:pt x="0" y="0"/>
                  </a:moveTo>
                  <a:lnTo>
                    <a:pt x="5406416" y="0"/>
                  </a:lnTo>
                  <a:lnTo>
                    <a:pt x="5406416" y="719458"/>
                  </a:lnTo>
                  <a:lnTo>
                    <a:pt x="0" y="719458"/>
                  </a:lnTo>
                  <a:close/>
                </a:path>
              </a:pathLst>
            </a:custGeom>
            <a:solidFill>
              <a:srgbClr val="C9455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19050"/>
              <a:ext cx="5406416" cy="7004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651330" y="9296911"/>
            <a:ext cx="19615407" cy="3895402"/>
            <a:chOff x="0" y="0"/>
            <a:chExt cx="5166198" cy="10259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66198" cy="1025949"/>
            </a:xfrm>
            <a:custGeom>
              <a:avLst/>
              <a:gdLst/>
              <a:ahLst/>
              <a:cxnLst/>
              <a:rect r="r" b="b" t="t" l="l"/>
              <a:pathLst>
                <a:path h="1025949" w="5166198">
                  <a:moveTo>
                    <a:pt x="0" y="0"/>
                  </a:moveTo>
                  <a:lnTo>
                    <a:pt x="5166198" y="0"/>
                  </a:lnTo>
                  <a:lnTo>
                    <a:pt x="5166198" y="1025949"/>
                  </a:lnTo>
                  <a:lnTo>
                    <a:pt x="0" y="1025949"/>
                  </a:lnTo>
                  <a:close/>
                </a:path>
              </a:pathLst>
            </a:custGeom>
            <a:solidFill>
              <a:srgbClr val="19575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166198" cy="1073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297949" y="3321659"/>
            <a:ext cx="4825477" cy="304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5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893640" y="3294834"/>
            <a:ext cx="9734163" cy="596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18"/>
              </a:lnSpc>
            </a:pPr>
            <a:r>
              <a:rPr lang="en-US" sz="3513" b="true">
                <a:solidFill>
                  <a:srgbClr val="01003B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REQ007 – GUARDAR CONTRATOS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18537" y="588327"/>
            <a:ext cx="15208474" cy="1623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79"/>
              </a:lnSpc>
            </a:pPr>
            <a:r>
              <a:rPr lang="en-US" sz="4699" b="true">
                <a:solidFill>
                  <a:srgbClr val="01003B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SPRINT 3 – PERSISTENCIA Y GENERACIÓN DE REPORTES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93640" y="5753115"/>
            <a:ext cx="9734163" cy="596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18"/>
              </a:lnSpc>
            </a:pPr>
            <a:r>
              <a:rPr lang="en-US" sz="3513" b="true">
                <a:solidFill>
                  <a:srgbClr val="01003B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REQ008 – EXPORTAR CONTRATOS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93640" y="4140902"/>
            <a:ext cx="7724825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01003B"/>
                </a:solidFill>
                <a:latin typeface="Be Vietnam"/>
                <a:ea typeface="Be Vietnam"/>
                <a:cs typeface="Be Vietnam"/>
                <a:sym typeface="Be Vietnam"/>
              </a:rPr>
              <a:t> G</a:t>
            </a:r>
            <a:r>
              <a:rPr lang="en-US" sz="2200">
                <a:solidFill>
                  <a:srgbClr val="01003B"/>
                </a:solidFill>
                <a:latin typeface="Be Vietnam"/>
                <a:ea typeface="Be Vietnam"/>
                <a:cs typeface="Be Vietnam"/>
                <a:sym typeface="Be Vietnam"/>
              </a:rPr>
              <a:t>uardar contratos dentro del sistema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93640" y="6597628"/>
            <a:ext cx="7724825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01003B"/>
                </a:solidFill>
                <a:latin typeface="Be Vietnam"/>
                <a:ea typeface="Be Vietnam"/>
                <a:cs typeface="Be Vietnam"/>
                <a:sym typeface="Be Vietnam"/>
              </a:rPr>
              <a:t>Export</a:t>
            </a:r>
            <a:r>
              <a:rPr lang="en-US" sz="2200">
                <a:solidFill>
                  <a:srgbClr val="01003B"/>
                </a:solidFill>
                <a:latin typeface="Be Vietnam"/>
                <a:ea typeface="Be Vietnam"/>
                <a:cs typeface="Be Vietnam"/>
                <a:sym typeface="Be Vietnam"/>
              </a:rPr>
              <a:t>ar el contrato en diferentes formatos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9144000" y="2841073"/>
            <a:ext cx="8750316" cy="4604854"/>
          </a:xfrm>
          <a:custGeom>
            <a:avLst/>
            <a:gdLst/>
            <a:ahLst/>
            <a:cxnLst/>
            <a:rect r="r" b="b" t="t" l="l"/>
            <a:pathLst>
              <a:path h="4604854" w="8750316">
                <a:moveTo>
                  <a:pt x="0" y="0"/>
                </a:moveTo>
                <a:lnTo>
                  <a:pt x="8750316" y="0"/>
                </a:lnTo>
                <a:lnTo>
                  <a:pt x="8750316" y="4604854"/>
                </a:lnTo>
                <a:lnTo>
                  <a:pt x="0" y="46048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9222" t="-4461" r="-20094" b="-471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119743" y="10285618"/>
            <a:ext cx="20527487" cy="2731693"/>
            <a:chOff x="0" y="0"/>
            <a:chExt cx="5406416" cy="7194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06416" cy="719458"/>
            </a:xfrm>
            <a:custGeom>
              <a:avLst/>
              <a:gdLst/>
              <a:ahLst/>
              <a:cxnLst/>
              <a:rect r="r" b="b" t="t" l="l"/>
              <a:pathLst>
                <a:path h="719458" w="5406416">
                  <a:moveTo>
                    <a:pt x="0" y="0"/>
                  </a:moveTo>
                  <a:lnTo>
                    <a:pt x="5406416" y="0"/>
                  </a:lnTo>
                  <a:lnTo>
                    <a:pt x="5406416" y="719458"/>
                  </a:lnTo>
                  <a:lnTo>
                    <a:pt x="0" y="719458"/>
                  </a:lnTo>
                  <a:close/>
                </a:path>
              </a:pathLst>
            </a:custGeom>
            <a:solidFill>
              <a:srgbClr val="C9455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19050"/>
              <a:ext cx="5406416" cy="7004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651330" y="9296911"/>
            <a:ext cx="19615407" cy="3895402"/>
            <a:chOff x="0" y="0"/>
            <a:chExt cx="5166198" cy="10259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66198" cy="1025949"/>
            </a:xfrm>
            <a:custGeom>
              <a:avLst/>
              <a:gdLst/>
              <a:ahLst/>
              <a:cxnLst/>
              <a:rect r="r" b="b" t="t" l="l"/>
              <a:pathLst>
                <a:path h="1025949" w="5166198">
                  <a:moveTo>
                    <a:pt x="0" y="0"/>
                  </a:moveTo>
                  <a:lnTo>
                    <a:pt x="5166198" y="0"/>
                  </a:lnTo>
                  <a:lnTo>
                    <a:pt x="5166198" y="1025949"/>
                  </a:lnTo>
                  <a:lnTo>
                    <a:pt x="0" y="1025949"/>
                  </a:lnTo>
                  <a:close/>
                </a:path>
              </a:pathLst>
            </a:custGeom>
            <a:solidFill>
              <a:srgbClr val="19575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166198" cy="1073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297949" y="3321659"/>
            <a:ext cx="4825477" cy="304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5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736069" y="3927216"/>
            <a:ext cx="9734163" cy="1216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18"/>
              </a:lnSpc>
            </a:pPr>
            <a:r>
              <a:rPr lang="en-US" sz="3513" b="true">
                <a:solidFill>
                  <a:srgbClr val="01003B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REQ009 – VENCIMIENTO Y RENOVACIÓN OBLIGATORIA DE CONTRASEÑA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18537" y="588327"/>
            <a:ext cx="15208474" cy="795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79"/>
              </a:lnSpc>
            </a:pPr>
            <a:r>
              <a:rPr lang="en-US" sz="4699" b="true">
                <a:solidFill>
                  <a:srgbClr val="01003B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SPRINT 4 – SEGURIDAD Y GESTIÓN DE CREDENCIALES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36069" y="5476875"/>
            <a:ext cx="7724825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01003B"/>
                </a:solidFill>
                <a:latin typeface="Be Vietnam"/>
                <a:ea typeface="Be Vietnam"/>
                <a:cs typeface="Be Vietnam"/>
                <a:sym typeface="Be Vietnam"/>
              </a:rPr>
              <a:t>C</a:t>
            </a:r>
            <a:r>
              <a:rPr lang="en-US" sz="2200">
                <a:solidFill>
                  <a:srgbClr val="01003B"/>
                </a:solidFill>
                <a:latin typeface="Be Vietnam"/>
                <a:ea typeface="Be Vietnam"/>
                <a:cs typeface="Be Vietnam"/>
                <a:sym typeface="Be Vietnam"/>
              </a:rPr>
              <a:t>ontrolar el tiempo de uso de las contraseñas del usuario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9777950" y="2775232"/>
            <a:ext cx="7341632" cy="4736537"/>
          </a:xfrm>
          <a:custGeom>
            <a:avLst/>
            <a:gdLst/>
            <a:ahLst/>
            <a:cxnLst/>
            <a:rect r="r" b="b" t="t" l="l"/>
            <a:pathLst>
              <a:path h="4736537" w="7341632">
                <a:moveTo>
                  <a:pt x="0" y="0"/>
                </a:moveTo>
                <a:lnTo>
                  <a:pt x="7341632" y="0"/>
                </a:lnTo>
                <a:lnTo>
                  <a:pt x="7341632" y="4736536"/>
                </a:lnTo>
                <a:lnTo>
                  <a:pt x="0" y="47365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9222" t="-4461" r="-20094" b="-4717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-10782321" y="4902386"/>
            <a:ext cx="24012912" cy="7628483"/>
            <a:chOff x="0" y="0"/>
            <a:chExt cx="6324388" cy="200914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24388" cy="2009148"/>
            </a:xfrm>
            <a:custGeom>
              <a:avLst/>
              <a:gdLst/>
              <a:ahLst/>
              <a:cxnLst/>
              <a:rect r="r" b="b" t="t" l="l"/>
              <a:pathLst>
                <a:path h="2009148" w="6324388">
                  <a:moveTo>
                    <a:pt x="0" y="0"/>
                  </a:moveTo>
                  <a:lnTo>
                    <a:pt x="6324388" y="0"/>
                  </a:lnTo>
                  <a:lnTo>
                    <a:pt x="6324388" y="2009148"/>
                  </a:lnTo>
                  <a:lnTo>
                    <a:pt x="0" y="2009148"/>
                  </a:lnTo>
                  <a:close/>
                </a:path>
              </a:pathLst>
            </a:custGeom>
            <a:solidFill>
              <a:srgbClr val="19575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6324388" cy="20567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8100000">
            <a:off x="16119176" y="1722797"/>
            <a:ext cx="2103985" cy="210398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51515" y="0"/>
                  </a:moveTo>
                  <a:lnTo>
                    <a:pt x="761285" y="0"/>
                  </a:lnTo>
                  <a:cubicBezTo>
                    <a:pt x="789736" y="0"/>
                    <a:pt x="812800" y="23064"/>
                    <a:pt x="812800" y="51515"/>
                  </a:cubicBezTo>
                  <a:lnTo>
                    <a:pt x="812800" y="761285"/>
                  </a:lnTo>
                  <a:cubicBezTo>
                    <a:pt x="812800" y="789736"/>
                    <a:pt x="789736" y="812800"/>
                    <a:pt x="761285" y="812800"/>
                  </a:cubicBezTo>
                  <a:lnTo>
                    <a:pt x="51515" y="812800"/>
                  </a:lnTo>
                  <a:cubicBezTo>
                    <a:pt x="23064" y="812800"/>
                    <a:pt x="0" y="789736"/>
                    <a:pt x="0" y="761285"/>
                  </a:cubicBezTo>
                  <a:lnTo>
                    <a:pt x="0" y="51515"/>
                  </a:lnTo>
                  <a:cubicBezTo>
                    <a:pt x="0" y="23064"/>
                    <a:pt x="23064" y="0"/>
                    <a:pt x="5151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8CFAE">
                    <a:alpha val="100000"/>
                  </a:srgbClr>
                </a:gs>
                <a:gs pos="100000">
                  <a:srgbClr val="006D83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8100000">
            <a:off x="13520930" y="-3509309"/>
            <a:ext cx="4742111" cy="4742111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22856" y="0"/>
                  </a:moveTo>
                  <a:lnTo>
                    <a:pt x="789944" y="0"/>
                  </a:lnTo>
                  <a:cubicBezTo>
                    <a:pt x="796006" y="0"/>
                    <a:pt x="801819" y="2408"/>
                    <a:pt x="806106" y="6694"/>
                  </a:cubicBezTo>
                  <a:cubicBezTo>
                    <a:pt x="810392" y="10981"/>
                    <a:pt x="812800" y="16794"/>
                    <a:pt x="812800" y="22856"/>
                  </a:cubicBezTo>
                  <a:lnTo>
                    <a:pt x="812800" y="789944"/>
                  </a:lnTo>
                  <a:cubicBezTo>
                    <a:pt x="812800" y="796006"/>
                    <a:pt x="810392" y="801819"/>
                    <a:pt x="806106" y="806106"/>
                  </a:cubicBezTo>
                  <a:cubicBezTo>
                    <a:pt x="801819" y="810392"/>
                    <a:pt x="796006" y="812800"/>
                    <a:pt x="789944" y="812800"/>
                  </a:cubicBezTo>
                  <a:lnTo>
                    <a:pt x="22856" y="812800"/>
                  </a:lnTo>
                  <a:cubicBezTo>
                    <a:pt x="16794" y="812800"/>
                    <a:pt x="10981" y="810392"/>
                    <a:pt x="6694" y="806106"/>
                  </a:cubicBezTo>
                  <a:cubicBezTo>
                    <a:pt x="2408" y="801819"/>
                    <a:pt x="0" y="796006"/>
                    <a:pt x="0" y="789944"/>
                  </a:cubicBezTo>
                  <a:lnTo>
                    <a:pt x="0" y="22856"/>
                  </a:lnTo>
                  <a:cubicBezTo>
                    <a:pt x="0" y="16794"/>
                    <a:pt x="2408" y="10981"/>
                    <a:pt x="6694" y="6694"/>
                  </a:cubicBezTo>
                  <a:cubicBezTo>
                    <a:pt x="10981" y="2408"/>
                    <a:pt x="16794" y="0"/>
                    <a:pt x="2285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8CFAE">
                    <a:alpha val="100000"/>
                  </a:srgbClr>
                </a:gs>
                <a:gs pos="100000">
                  <a:srgbClr val="006D83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-2700000">
            <a:off x="18312959" y="-1232802"/>
            <a:ext cx="4742111" cy="4742111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22856" y="0"/>
                  </a:moveTo>
                  <a:lnTo>
                    <a:pt x="789944" y="0"/>
                  </a:lnTo>
                  <a:cubicBezTo>
                    <a:pt x="796006" y="0"/>
                    <a:pt x="801819" y="2408"/>
                    <a:pt x="806106" y="6694"/>
                  </a:cubicBezTo>
                  <a:cubicBezTo>
                    <a:pt x="810392" y="10981"/>
                    <a:pt x="812800" y="16794"/>
                    <a:pt x="812800" y="22856"/>
                  </a:cubicBezTo>
                  <a:lnTo>
                    <a:pt x="812800" y="789944"/>
                  </a:lnTo>
                  <a:cubicBezTo>
                    <a:pt x="812800" y="796006"/>
                    <a:pt x="810392" y="801819"/>
                    <a:pt x="806106" y="806106"/>
                  </a:cubicBezTo>
                  <a:cubicBezTo>
                    <a:pt x="801819" y="810392"/>
                    <a:pt x="796006" y="812800"/>
                    <a:pt x="789944" y="812800"/>
                  </a:cubicBezTo>
                  <a:lnTo>
                    <a:pt x="22856" y="812800"/>
                  </a:lnTo>
                  <a:cubicBezTo>
                    <a:pt x="16794" y="812800"/>
                    <a:pt x="10981" y="810392"/>
                    <a:pt x="6694" y="806106"/>
                  </a:cubicBezTo>
                  <a:cubicBezTo>
                    <a:pt x="2408" y="801819"/>
                    <a:pt x="0" y="796006"/>
                    <a:pt x="0" y="789944"/>
                  </a:cubicBezTo>
                  <a:lnTo>
                    <a:pt x="0" y="22856"/>
                  </a:lnTo>
                  <a:cubicBezTo>
                    <a:pt x="0" y="16794"/>
                    <a:pt x="2408" y="10981"/>
                    <a:pt x="6694" y="6694"/>
                  </a:cubicBezTo>
                  <a:cubicBezTo>
                    <a:pt x="10981" y="2408"/>
                    <a:pt x="16794" y="0"/>
                    <a:pt x="2285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8CFAE">
                    <a:alpha val="100000"/>
                  </a:srgbClr>
                </a:gs>
                <a:gs pos="100000">
                  <a:srgbClr val="006D8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-8100000">
            <a:off x="16677587" y="644672"/>
            <a:ext cx="987162" cy="987162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09796" y="0"/>
                  </a:moveTo>
                  <a:lnTo>
                    <a:pt x="703004" y="0"/>
                  </a:lnTo>
                  <a:cubicBezTo>
                    <a:pt x="732123" y="0"/>
                    <a:pt x="760051" y="11568"/>
                    <a:pt x="780641" y="32159"/>
                  </a:cubicBezTo>
                  <a:cubicBezTo>
                    <a:pt x="801232" y="52749"/>
                    <a:pt x="812800" y="80677"/>
                    <a:pt x="812800" y="109796"/>
                  </a:cubicBezTo>
                  <a:lnTo>
                    <a:pt x="812800" y="703004"/>
                  </a:lnTo>
                  <a:cubicBezTo>
                    <a:pt x="812800" y="732123"/>
                    <a:pt x="801232" y="760051"/>
                    <a:pt x="780641" y="780641"/>
                  </a:cubicBezTo>
                  <a:cubicBezTo>
                    <a:pt x="760051" y="801232"/>
                    <a:pt x="732123" y="812800"/>
                    <a:pt x="703004" y="812800"/>
                  </a:cubicBezTo>
                  <a:lnTo>
                    <a:pt x="109796" y="812800"/>
                  </a:lnTo>
                  <a:cubicBezTo>
                    <a:pt x="80677" y="812800"/>
                    <a:pt x="52749" y="801232"/>
                    <a:pt x="32159" y="780641"/>
                  </a:cubicBezTo>
                  <a:cubicBezTo>
                    <a:pt x="11568" y="760051"/>
                    <a:pt x="0" y="732123"/>
                    <a:pt x="0" y="703004"/>
                  </a:cubicBezTo>
                  <a:lnTo>
                    <a:pt x="0" y="109796"/>
                  </a:lnTo>
                  <a:cubicBezTo>
                    <a:pt x="0" y="80677"/>
                    <a:pt x="11568" y="52749"/>
                    <a:pt x="32159" y="32159"/>
                  </a:cubicBezTo>
                  <a:cubicBezTo>
                    <a:pt x="52749" y="11568"/>
                    <a:pt x="80677" y="0"/>
                    <a:pt x="109796" y="0"/>
                  </a:cubicBezTo>
                  <a:close/>
                </a:path>
              </a:pathLst>
            </a:custGeom>
            <a:solidFill>
              <a:srgbClr val="33326B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697400" y="1461377"/>
            <a:ext cx="16980096" cy="7959420"/>
          </a:xfrm>
          <a:custGeom>
            <a:avLst/>
            <a:gdLst/>
            <a:ahLst/>
            <a:cxnLst/>
            <a:rect r="r" b="b" t="t" l="l"/>
            <a:pathLst>
              <a:path h="7959420" w="16980096">
                <a:moveTo>
                  <a:pt x="0" y="0"/>
                </a:moveTo>
                <a:lnTo>
                  <a:pt x="16980095" y="0"/>
                </a:lnTo>
                <a:lnTo>
                  <a:pt x="16980095" y="7959420"/>
                </a:lnTo>
                <a:lnTo>
                  <a:pt x="0" y="79594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529701" y="49218"/>
            <a:ext cx="13804166" cy="886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47"/>
              </a:lnSpc>
            </a:pPr>
            <a:r>
              <a:rPr lang="en-US" b="true" sz="6550" spc="209">
                <a:solidFill>
                  <a:srgbClr val="01003B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DIAGRAMA DE CASOS DE USO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9222" t="-4461" r="-20094" b="-4717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-10782321" y="4902386"/>
            <a:ext cx="24012912" cy="7628483"/>
            <a:chOff x="0" y="0"/>
            <a:chExt cx="6324388" cy="200914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24388" cy="2009148"/>
            </a:xfrm>
            <a:custGeom>
              <a:avLst/>
              <a:gdLst/>
              <a:ahLst/>
              <a:cxnLst/>
              <a:rect r="r" b="b" t="t" l="l"/>
              <a:pathLst>
                <a:path h="2009148" w="6324388">
                  <a:moveTo>
                    <a:pt x="0" y="0"/>
                  </a:moveTo>
                  <a:lnTo>
                    <a:pt x="6324388" y="0"/>
                  </a:lnTo>
                  <a:lnTo>
                    <a:pt x="6324388" y="2009148"/>
                  </a:lnTo>
                  <a:lnTo>
                    <a:pt x="0" y="2009148"/>
                  </a:lnTo>
                  <a:close/>
                </a:path>
              </a:pathLst>
            </a:custGeom>
            <a:solidFill>
              <a:srgbClr val="19575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6324388" cy="20567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8100000">
            <a:off x="16119176" y="1722797"/>
            <a:ext cx="2103985" cy="210398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51515" y="0"/>
                  </a:moveTo>
                  <a:lnTo>
                    <a:pt x="761285" y="0"/>
                  </a:lnTo>
                  <a:cubicBezTo>
                    <a:pt x="789736" y="0"/>
                    <a:pt x="812800" y="23064"/>
                    <a:pt x="812800" y="51515"/>
                  </a:cubicBezTo>
                  <a:lnTo>
                    <a:pt x="812800" y="761285"/>
                  </a:lnTo>
                  <a:cubicBezTo>
                    <a:pt x="812800" y="789736"/>
                    <a:pt x="789736" y="812800"/>
                    <a:pt x="761285" y="812800"/>
                  </a:cubicBezTo>
                  <a:lnTo>
                    <a:pt x="51515" y="812800"/>
                  </a:lnTo>
                  <a:cubicBezTo>
                    <a:pt x="23064" y="812800"/>
                    <a:pt x="0" y="789736"/>
                    <a:pt x="0" y="761285"/>
                  </a:cubicBezTo>
                  <a:lnTo>
                    <a:pt x="0" y="51515"/>
                  </a:lnTo>
                  <a:cubicBezTo>
                    <a:pt x="0" y="23064"/>
                    <a:pt x="23064" y="0"/>
                    <a:pt x="5151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8CFAE">
                    <a:alpha val="100000"/>
                  </a:srgbClr>
                </a:gs>
                <a:gs pos="100000">
                  <a:srgbClr val="006D83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8100000">
            <a:off x="13520930" y="-3509309"/>
            <a:ext cx="4742111" cy="4742111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22856" y="0"/>
                  </a:moveTo>
                  <a:lnTo>
                    <a:pt x="789944" y="0"/>
                  </a:lnTo>
                  <a:cubicBezTo>
                    <a:pt x="796006" y="0"/>
                    <a:pt x="801819" y="2408"/>
                    <a:pt x="806106" y="6694"/>
                  </a:cubicBezTo>
                  <a:cubicBezTo>
                    <a:pt x="810392" y="10981"/>
                    <a:pt x="812800" y="16794"/>
                    <a:pt x="812800" y="22856"/>
                  </a:cubicBezTo>
                  <a:lnTo>
                    <a:pt x="812800" y="789944"/>
                  </a:lnTo>
                  <a:cubicBezTo>
                    <a:pt x="812800" y="796006"/>
                    <a:pt x="810392" y="801819"/>
                    <a:pt x="806106" y="806106"/>
                  </a:cubicBezTo>
                  <a:cubicBezTo>
                    <a:pt x="801819" y="810392"/>
                    <a:pt x="796006" y="812800"/>
                    <a:pt x="789944" y="812800"/>
                  </a:cubicBezTo>
                  <a:lnTo>
                    <a:pt x="22856" y="812800"/>
                  </a:lnTo>
                  <a:cubicBezTo>
                    <a:pt x="16794" y="812800"/>
                    <a:pt x="10981" y="810392"/>
                    <a:pt x="6694" y="806106"/>
                  </a:cubicBezTo>
                  <a:cubicBezTo>
                    <a:pt x="2408" y="801819"/>
                    <a:pt x="0" y="796006"/>
                    <a:pt x="0" y="789944"/>
                  </a:cubicBezTo>
                  <a:lnTo>
                    <a:pt x="0" y="22856"/>
                  </a:lnTo>
                  <a:cubicBezTo>
                    <a:pt x="0" y="16794"/>
                    <a:pt x="2408" y="10981"/>
                    <a:pt x="6694" y="6694"/>
                  </a:cubicBezTo>
                  <a:cubicBezTo>
                    <a:pt x="10981" y="2408"/>
                    <a:pt x="16794" y="0"/>
                    <a:pt x="2285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8CFAE">
                    <a:alpha val="100000"/>
                  </a:srgbClr>
                </a:gs>
                <a:gs pos="100000">
                  <a:srgbClr val="006D83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-2700000">
            <a:off x="18312959" y="-1232802"/>
            <a:ext cx="4742111" cy="4742111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22856" y="0"/>
                  </a:moveTo>
                  <a:lnTo>
                    <a:pt x="789944" y="0"/>
                  </a:lnTo>
                  <a:cubicBezTo>
                    <a:pt x="796006" y="0"/>
                    <a:pt x="801819" y="2408"/>
                    <a:pt x="806106" y="6694"/>
                  </a:cubicBezTo>
                  <a:cubicBezTo>
                    <a:pt x="810392" y="10981"/>
                    <a:pt x="812800" y="16794"/>
                    <a:pt x="812800" y="22856"/>
                  </a:cubicBezTo>
                  <a:lnTo>
                    <a:pt x="812800" y="789944"/>
                  </a:lnTo>
                  <a:cubicBezTo>
                    <a:pt x="812800" y="796006"/>
                    <a:pt x="810392" y="801819"/>
                    <a:pt x="806106" y="806106"/>
                  </a:cubicBezTo>
                  <a:cubicBezTo>
                    <a:pt x="801819" y="810392"/>
                    <a:pt x="796006" y="812800"/>
                    <a:pt x="789944" y="812800"/>
                  </a:cubicBezTo>
                  <a:lnTo>
                    <a:pt x="22856" y="812800"/>
                  </a:lnTo>
                  <a:cubicBezTo>
                    <a:pt x="16794" y="812800"/>
                    <a:pt x="10981" y="810392"/>
                    <a:pt x="6694" y="806106"/>
                  </a:cubicBezTo>
                  <a:cubicBezTo>
                    <a:pt x="2408" y="801819"/>
                    <a:pt x="0" y="796006"/>
                    <a:pt x="0" y="789944"/>
                  </a:cubicBezTo>
                  <a:lnTo>
                    <a:pt x="0" y="22856"/>
                  </a:lnTo>
                  <a:cubicBezTo>
                    <a:pt x="0" y="16794"/>
                    <a:pt x="2408" y="10981"/>
                    <a:pt x="6694" y="6694"/>
                  </a:cubicBezTo>
                  <a:cubicBezTo>
                    <a:pt x="10981" y="2408"/>
                    <a:pt x="16794" y="0"/>
                    <a:pt x="2285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8CFAE">
                    <a:alpha val="100000"/>
                  </a:srgbClr>
                </a:gs>
                <a:gs pos="100000">
                  <a:srgbClr val="006D8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-8100000">
            <a:off x="16677587" y="644672"/>
            <a:ext cx="987162" cy="987162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09796" y="0"/>
                  </a:moveTo>
                  <a:lnTo>
                    <a:pt x="703004" y="0"/>
                  </a:lnTo>
                  <a:cubicBezTo>
                    <a:pt x="732123" y="0"/>
                    <a:pt x="760051" y="11568"/>
                    <a:pt x="780641" y="32159"/>
                  </a:cubicBezTo>
                  <a:cubicBezTo>
                    <a:pt x="801232" y="52749"/>
                    <a:pt x="812800" y="80677"/>
                    <a:pt x="812800" y="109796"/>
                  </a:cubicBezTo>
                  <a:lnTo>
                    <a:pt x="812800" y="703004"/>
                  </a:lnTo>
                  <a:cubicBezTo>
                    <a:pt x="812800" y="732123"/>
                    <a:pt x="801232" y="760051"/>
                    <a:pt x="780641" y="780641"/>
                  </a:cubicBezTo>
                  <a:cubicBezTo>
                    <a:pt x="760051" y="801232"/>
                    <a:pt x="732123" y="812800"/>
                    <a:pt x="703004" y="812800"/>
                  </a:cubicBezTo>
                  <a:lnTo>
                    <a:pt x="109796" y="812800"/>
                  </a:lnTo>
                  <a:cubicBezTo>
                    <a:pt x="80677" y="812800"/>
                    <a:pt x="52749" y="801232"/>
                    <a:pt x="32159" y="780641"/>
                  </a:cubicBezTo>
                  <a:cubicBezTo>
                    <a:pt x="11568" y="760051"/>
                    <a:pt x="0" y="732123"/>
                    <a:pt x="0" y="703004"/>
                  </a:cubicBezTo>
                  <a:lnTo>
                    <a:pt x="0" y="109796"/>
                  </a:lnTo>
                  <a:cubicBezTo>
                    <a:pt x="0" y="80677"/>
                    <a:pt x="11568" y="52749"/>
                    <a:pt x="32159" y="32159"/>
                  </a:cubicBezTo>
                  <a:cubicBezTo>
                    <a:pt x="52749" y="11568"/>
                    <a:pt x="80677" y="0"/>
                    <a:pt x="109796" y="0"/>
                  </a:cubicBezTo>
                  <a:close/>
                </a:path>
              </a:pathLst>
            </a:custGeom>
            <a:solidFill>
              <a:srgbClr val="33326B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529701" y="936006"/>
            <a:ext cx="15234485" cy="9026432"/>
          </a:xfrm>
          <a:custGeom>
            <a:avLst/>
            <a:gdLst/>
            <a:ahLst/>
            <a:cxnLst/>
            <a:rect r="r" b="b" t="t" l="l"/>
            <a:pathLst>
              <a:path h="9026432" w="15234485">
                <a:moveTo>
                  <a:pt x="0" y="0"/>
                </a:moveTo>
                <a:lnTo>
                  <a:pt x="15234486" y="0"/>
                </a:lnTo>
                <a:lnTo>
                  <a:pt x="15234486" y="9026432"/>
                </a:lnTo>
                <a:lnTo>
                  <a:pt x="0" y="90264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529701" y="49218"/>
            <a:ext cx="13804166" cy="886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47"/>
              </a:lnSpc>
            </a:pPr>
            <a:r>
              <a:rPr lang="en-US" b="true" sz="6550" spc="209">
                <a:solidFill>
                  <a:srgbClr val="01003B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DIAGRAMA DE CASOS DE USO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9222" t="-4461" r="-20094" b="-4717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-10618659" y="643051"/>
            <a:ext cx="19615407" cy="3895402"/>
            <a:chOff x="0" y="0"/>
            <a:chExt cx="5166198" cy="1025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66198" cy="1025949"/>
            </a:xfrm>
            <a:custGeom>
              <a:avLst/>
              <a:gdLst/>
              <a:ahLst/>
              <a:cxnLst/>
              <a:rect r="r" b="b" t="t" l="l"/>
              <a:pathLst>
                <a:path h="1025949" w="5166198">
                  <a:moveTo>
                    <a:pt x="0" y="0"/>
                  </a:moveTo>
                  <a:lnTo>
                    <a:pt x="5166198" y="0"/>
                  </a:lnTo>
                  <a:lnTo>
                    <a:pt x="5166198" y="1025949"/>
                  </a:lnTo>
                  <a:lnTo>
                    <a:pt x="0" y="1025949"/>
                  </a:lnTo>
                  <a:close/>
                </a:path>
              </a:pathLst>
            </a:custGeom>
            <a:solidFill>
              <a:srgbClr val="19575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166198" cy="1073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2288421" y="220404"/>
            <a:ext cx="15641431" cy="1759196"/>
            <a:chOff x="0" y="0"/>
            <a:chExt cx="4060503" cy="45668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60503" cy="456686"/>
            </a:xfrm>
            <a:custGeom>
              <a:avLst/>
              <a:gdLst/>
              <a:ahLst/>
              <a:cxnLst/>
              <a:rect r="r" b="b" t="t" l="l"/>
              <a:pathLst>
                <a:path h="456686" w="4060503">
                  <a:moveTo>
                    <a:pt x="3857303" y="0"/>
                  </a:moveTo>
                  <a:cubicBezTo>
                    <a:pt x="3969527" y="0"/>
                    <a:pt x="4060503" y="102233"/>
                    <a:pt x="4060503" y="228343"/>
                  </a:cubicBezTo>
                  <a:cubicBezTo>
                    <a:pt x="4060503" y="354453"/>
                    <a:pt x="3969527" y="456686"/>
                    <a:pt x="3857303" y="456686"/>
                  </a:cubicBezTo>
                  <a:lnTo>
                    <a:pt x="203200" y="456686"/>
                  </a:lnTo>
                  <a:cubicBezTo>
                    <a:pt x="90976" y="456686"/>
                    <a:pt x="0" y="354453"/>
                    <a:pt x="0" y="228343"/>
                  </a:cubicBezTo>
                  <a:cubicBezTo>
                    <a:pt x="0" y="102233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  <a:ln w="76200" cap="sq">
              <a:solidFill>
                <a:srgbClr val="48CFAE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060503" cy="5043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28700" y="3226606"/>
            <a:ext cx="1289044" cy="961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98"/>
              </a:lnSpc>
              <a:spcBef>
                <a:spcPct val="0"/>
              </a:spcBef>
            </a:pPr>
            <a:r>
              <a:rPr lang="en-US" b="true" sz="5641">
                <a:solidFill>
                  <a:srgbClr val="01003B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5662292"/>
            <a:ext cx="1289044" cy="961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98"/>
              </a:lnSpc>
              <a:spcBef>
                <a:spcPct val="0"/>
              </a:spcBef>
            </a:pPr>
            <a:r>
              <a:rPr lang="en-US" b="true" sz="5641">
                <a:solidFill>
                  <a:srgbClr val="01003B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317744" y="3057447"/>
            <a:ext cx="14680447" cy="1357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5"/>
              </a:lnSpc>
            </a:pPr>
            <a:r>
              <a:rPr lang="en-US" sz="2597">
                <a:solidFill>
                  <a:srgbClr val="01003B"/>
                </a:solidFill>
                <a:latin typeface="Be Vietnam"/>
                <a:ea typeface="Be Vietnam"/>
                <a:cs typeface="Be Vietnam"/>
                <a:sym typeface="Be Vietnam"/>
              </a:rPr>
              <a:t>Seguridad Integral: El sistema garantiza la protección de datos financieros mediante un módulo de autenticación robusto que incluye políticas de bloqueo por intentos fallidos y la renovación obligatoria de contraseñas cada 30 días.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317744" y="5728967"/>
            <a:ext cx="14956049" cy="1376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5"/>
              </a:lnSpc>
            </a:pPr>
            <a:r>
              <a:rPr lang="en-US" sz="2682">
                <a:solidFill>
                  <a:srgbClr val="01003B"/>
                </a:solidFill>
                <a:latin typeface="Be Vietnam"/>
                <a:ea typeface="Be Vietnam"/>
                <a:cs typeface="Be Vietnam"/>
                <a:sym typeface="Be Vietnam"/>
              </a:rPr>
              <a:t>Gestión Eficie</a:t>
            </a:r>
            <a:r>
              <a:rPr lang="en-US" sz="2682">
                <a:solidFill>
                  <a:srgbClr val="01003B"/>
                </a:solidFill>
                <a:latin typeface="Be Vietnam"/>
                <a:ea typeface="Be Vietnam"/>
                <a:cs typeface="Be Vietnam"/>
                <a:sym typeface="Be Vietnam"/>
              </a:rPr>
              <a:t>nte del Ciclo de Vida: El software centraliza con éxito todas las operaciones de los fideicomisos (crear, leer, actualizar y eliminar), permitiendo además la generación de documentos legales en formato PDF de manera automatizada y precisa.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70884" y="353119"/>
            <a:ext cx="13071991" cy="1379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5"/>
              </a:lnSpc>
            </a:pPr>
            <a:r>
              <a:rPr lang="en-US" b="true" sz="5199" spc="166">
                <a:solidFill>
                  <a:srgbClr val="01003B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CONCLUSIONES Y</a:t>
            </a:r>
          </a:p>
          <a:p>
            <a:pPr algn="l">
              <a:lnSpc>
                <a:spcPts val="5355"/>
              </a:lnSpc>
            </a:pPr>
            <a:r>
              <a:rPr lang="en-US" b="true" sz="5199" spc="166">
                <a:solidFill>
                  <a:srgbClr val="01003B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RECOMENDACIONES FINALES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9222" t="-4461" r="-20094" b="-4717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-10618659" y="643051"/>
            <a:ext cx="19615407" cy="3895402"/>
            <a:chOff x="0" y="0"/>
            <a:chExt cx="5166198" cy="1025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66198" cy="1025949"/>
            </a:xfrm>
            <a:custGeom>
              <a:avLst/>
              <a:gdLst/>
              <a:ahLst/>
              <a:cxnLst/>
              <a:rect r="r" b="b" t="t" l="l"/>
              <a:pathLst>
                <a:path h="1025949" w="5166198">
                  <a:moveTo>
                    <a:pt x="0" y="0"/>
                  </a:moveTo>
                  <a:lnTo>
                    <a:pt x="5166198" y="0"/>
                  </a:lnTo>
                  <a:lnTo>
                    <a:pt x="5166198" y="1025949"/>
                  </a:lnTo>
                  <a:lnTo>
                    <a:pt x="0" y="1025949"/>
                  </a:lnTo>
                  <a:close/>
                </a:path>
              </a:pathLst>
            </a:custGeom>
            <a:solidFill>
              <a:srgbClr val="19575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166198" cy="1073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2288421" y="220404"/>
            <a:ext cx="15641431" cy="1759196"/>
            <a:chOff x="0" y="0"/>
            <a:chExt cx="4060503" cy="45668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60503" cy="456686"/>
            </a:xfrm>
            <a:custGeom>
              <a:avLst/>
              <a:gdLst/>
              <a:ahLst/>
              <a:cxnLst/>
              <a:rect r="r" b="b" t="t" l="l"/>
              <a:pathLst>
                <a:path h="456686" w="4060503">
                  <a:moveTo>
                    <a:pt x="3857303" y="0"/>
                  </a:moveTo>
                  <a:cubicBezTo>
                    <a:pt x="3969527" y="0"/>
                    <a:pt x="4060503" y="102233"/>
                    <a:pt x="4060503" y="228343"/>
                  </a:cubicBezTo>
                  <a:cubicBezTo>
                    <a:pt x="4060503" y="354453"/>
                    <a:pt x="3969527" y="456686"/>
                    <a:pt x="3857303" y="456686"/>
                  </a:cubicBezTo>
                  <a:lnTo>
                    <a:pt x="203200" y="456686"/>
                  </a:lnTo>
                  <a:cubicBezTo>
                    <a:pt x="90976" y="456686"/>
                    <a:pt x="0" y="354453"/>
                    <a:pt x="0" y="228343"/>
                  </a:cubicBezTo>
                  <a:cubicBezTo>
                    <a:pt x="0" y="102233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  <a:ln w="76200" cap="sq">
              <a:solidFill>
                <a:srgbClr val="48CFAE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060503" cy="5043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28700" y="3322339"/>
            <a:ext cx="1289044" cy="961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98"/>
              </a:lnSpc>
              <a:spcBef>
                <a:spcPct val="0"/>
              </a:spcBef>
            </a:pPr>
            <a:r>
              <a:rPr lang="en-US" b="true" sz="5641">
                <a:solidFill>
                  <a:srgbClr val="01003B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6038617"/>
            <a:ext cx="1289044" cy="961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98"/>
              </a:lnSpc>
              <a:spcBef>
                <a:spcPct val="0"/>
              </a:spcBef>
            </a:pPr>
            <a:r>
              <a:rPr lang="en-US" b="true" sz="5641">
                <a:solidFill>
                  <a:srgbClr val="01003B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4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317744" y="3031335"/>
            <a:ext cx="15359941" cy="1581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6"/>
              </a:lnSpc>
            </a:pPr>
            <a:r>
              <a:rPr lang="en-US" sz="3004">
                <a:solidFill>
                  <a:srgbClr val="01003B"/>
                </a:solidFill>
                <a:latin typeface="Be Vietnam"/>
                <a:ea typeface="Be Vietnam"/>
                <a:cs typeface="Be Vietnam"/>
                <a:sym typeface="Be Vietnam"/>
              </a:rPr>
              <a:t>Capacit</a:t>
            </a:r>
            <a:r>
              <a:rPr lang="en-US" sz="3004">
                <a:solidFill>
                  <a:srgbClr val="01003B"/>
                </a:solidFill>
                <a:latin typeface="Be Vietnam"/>
                <a:ea typeface="Be Vietnam"/>
                <a:cs typeface="Be Vietnam"/>
                <a:sym typeface="Be Vietnam"/>
              </a:rPr>
              <a:t>ación en Ma</a:t>
            </a:r>
            <a:r>
              <a:rPr lang="en-US" sz="3004">
                <a:solidFill>
                  <a:srgbClr val="01003B"/>
                </a:solidFill>
                <a:latin typeface="Be Vietnam"/>
                <a:ea typeface="Be Vietnam"/>
                <a:cs typeface="Be Vietnam"/>
                <a:sym typeface="Be Vietnam"/>
              </a:rPr>
              <a:t>nejo de</a:t>
            </a:r>
            <a:r>
              <a:rPr lang="en-US" sz="3004">
                <a:solidFill>
                  <a:srgbClr val="01003B"/>
                </a:solidFill>
                <a:latin typeface="Be Vietnam"/>
                <a:ea typeface="Be Vietnam"/>
                <a:cs typeface="Be Vietnam"/>
                <a:sym typeface="Be Vietnam"/>
              </a:rPr>
              <a:t> Da</a:t>
            </a:r>
            <a:r>
              <a:rPr lang="en-US" sz="3004">
                <a:solidFill>
                  <a:srgbClr val="01003B"/>
                </a:solidFill>
                <a:latin typeface="Be Vietnam"/>
                <a:ea typeface="Be Vietnam"/>
                <a:cs typeface="Be Vietnam"/>
                <a:sym typeface="Be Vietnam"/>
              </a:rPr>
              <a:t>tos: Se recomienda instruir a los usuarios sobre la irreversibilidad de la función de eliminación, ya que el sistema no posee una "papelera de reciclaje" y el borrado de registros es permanente.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521161" y="5756087"/>
            <a:ext cx="14738139" cy="1564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4"/>
              </a:lnSpc>
            </a:pPr>
            <a:r>
              <a:rPr lang="en-US" sz="3003">
                <a:solidFill>
                  <a:srgbClr val="01003B"/>
                </a:solidFill>
                <a:latin typeface="Be Vietnam"/>
                <a:ea typeface="Be Vietnam"/>
                <a:cs typeface="Be Vietnam"/>
                <a:sym typeface="Be Vietnam"/>
              </a:rPr>
              <a:t>Optimiz</a:t>
            </a:r>
            <a:r>
              <a:rPr lang="en-US" sz="3003">
                <a:solidFill>
                  <a:srgbClr val="01003B"/>
                </a:solidFill>
                <a:latin typeface="Be Vietnam"/>
                <a:ea typeface="Be Vietnam"/>
                <a:cs typeface="Be Vietnam"/>
                <a:sym typeface="Be Vietnam"/>
              </a:rPr>
              <a:t>ación de Hardware: Para asegurar un rendimiento fluido de la base de datos y la interfaz, es ideal que las estaciones de trabajo cuenten con al menos 8 GB de RAM y un procesador Intel Core i5 o superior.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70884" y="353119"/>
            <a:ext cx="13071991" cy="1379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5"/>
              </a:lnSpc>
            </a:pPr>
            <a:r>
              <a:rPr lang="en-US" b="true" sz="5199" spc="166">
                <a:solidFill>
                  <a:srgbClr val="01003B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CONCLUSIONES Y</a:t>
            </a:r>
          </a:p>
          <a:p>
            <a:pPr algn="l">
              <a:lnSpc>
                <a:spcPts val="5355"/>
              </a:lnSpc>
            </a:pPr>
            <a:r>
              <a:rPr lang="en-US" b="true" sz="5199" spc="166">
                <a:solidFill>
                  <a:srgbClr val="01003B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RECOMENDACIONES 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99155" y="-3283094"/>
            <a:ext cx="19615407" cy="4281840"/>
            <a:chOff x="0" y="0"/>
            <a:chExt cx="5166198" cy="11277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66198" cy="1127727"/>
            </a:xfrm>
            <a:custGeom>
              <a:avLst/>
              <a:gdLst/>
              <a:ahLst/>
              <a:cxnLst/>
              <a:rect r="r" b="b" t="t" l="l"/>
              <a:pathLst>
                <a:path h="1127727" w="5166198">
                  <a:moveTo>
                    <a:pt x="0" y="0"/>
                  </a:moveTo>
                  <a:lnTo>
                    <a:pt x="5166198" y="0"/>
                  </a:lnTo>
                  <a:lnTo>
                    <a:pt x="5166198" y="1127727"/>
                  </a:lnTo>
                  <a:lnTo>
                    <a:pt x="0" y="1127727"/>
                  </a:lnTo>
                  <a:close/>
                </a:path>
              </a:pathLst>
            </a:custGeom>
            <a:solidFill>
              <a:srgbClr val="19575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5166198" cy="11753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8100000">
            <a:off x="-1793629" y="1798313"/>
            <a:ext cx="2388948" cy="2388948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5370" y="0"/>
                  </a:moveTo>
                  <a:lnTo>
                    <a:pt x="767430" y="0"/>
                  </a:lnTo>
                  <a:cubicBezTo>
                    <a:pt x="792487" y="0"/>
                    <a:pt x="812800" y="20313"/>
                    <a:pt x="812800" y="45370"/>
                  </a:cubicBezTo>
                  <a:lnTo>
                    <a:pt x="812800" y="767430"/>
                  </a:lnTo>
                  <a:cubicBezTo>
                    <a:pt x="812800" y="792487"/>
                    <a:pt x="792487" y="812800"/>
                    <a:pt x="767430" y="812800"/>
                  </a:cubicBezTo>
                  <a:lnTo>
                    <a:pt x="45370" y="812800"/>
                  </a:lnTo>
                  <a:cubicBezTo>
                    <a:pt x="20313" y="812800"/>
                    <a:pt x="0" y="792487"/>
                    <a:pt x="0" y="767430"/>
                  </a:cubicBezTo>
                  <a:lnTo>
                    <a:pt x="0" y="45370"/>
                  </a:lnTo>
                  <a:cubicBezTo>
                    <a:pt x="0" y="20313"/>
                    <a:pt x="20313" y="0"/>
                    <a:pt x="45370" y="0"/>
                  </a:cubicBezTo>
                  <a:close/>
                </a:path>
              </a:pathLst>
            </a:custGeom>
            <a:solidFill>
              <a:srgbClr val="33326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2700000">
            <a:off x="252683" y="-845733"/>
            <a:ext cx="3895116" cy="3895116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27826" y="0"/>
                  </a:moveTo>
                  <a:lnTo>
                    <a:pt x="784974" y="0"/>
                  </a:lnTo>
                  <a:cubicBezTo>
                    <a:pt x="792354" y="0"/>
                    <a:pt x="799431" y="2932"/>
                    <a:pt x="804650" y="8150"/>
                  </a:cubicBezTo>
                  <a:cubicBezTo>
                    <a:pt x="809868" y="13369"/>
                    <a:pt x="812800" y="20446"/>
                    <a:pt x="812800" y="27826"/>
                  </a:cubicBezTo>
                  <a:lnTo>
                    <a:pt x="812800" y="784974"/>
                  </a:lnTo>
                  <a:cubicBezTo>
                    <a:pt x="812800" y="792354"/>
                    <a:pt x="809868" y="799431"/>
                    <a:pt x="804650" y="804650"/>
                  </a:cubicBezTo>
                  <a:cubicBezTo>
                    <a:pt x="799431" y="809868"/>
                    <a:pt x="792354" y="812800"/>
                    <a:pt x="784974" y="812800"/>
                  </a:cubicBezTo>
                  <a:lnTo>
                    <a:pt x="27826" y="812800"/>
                  </a:lnTo>
                  <a:cubicBezTo>
                    <a:pt x="20446" y="812800"/>
                    <a:pt x="13369" y="809868"/>
                    <a:pt x="8150" y="804650"/>
                  </a:cubicBezTo>
                  <a:cubicBezTo>
                    <a:pt x="2932" y="799431"/>
                    <a:pt x="0" y="792354"/>
                    <a:pt x="0" y="784974"/>
                  </a:cubicBezTo>
                  <a:lnTo>
                    <a:pt x="0" y="27826"/>
                  </a:lnTo>
                  <a:cubicBezTo>
                    <a:pt x="0" y="20446"/>
                    <a:pt x="2932" y="13369"/>
                    <a:pt x="8150" y="8150"/>
                  </a:cubicBezTo>
                  <a:cubicBezTo>
                    <a:pt x="13369" y="2932"/>
                    <a:pt x="20446" y="0"/>
                    <a:pt x="2782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8CFAE">
                    <a:alpha val="100000"/>
                  </a:srgbClr>
                </a:gs>
                <a:gs pos="100000">
                  <a:srgbClr val="006D83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8100000">
            <a:off x="3410361" y="1734379"/>
            <a:ext cx="1042499" cy="1042499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03968" y="0"/>
                  </a:moveTo>
                  <a:lnTo>
                    <a:pt x="708832" y="0"/>
                  </a:lnTo>
                  <a:cubicBezTo>
                    <a:pt x="736406" y="0"/>
                    <a:pt x="762851" y="10954"/>
                    <a:pt x="782348" y="30452"/>
                  </a:cubicBezTo>
                  <a:cubicBezTo>
                    <a:pt x="801846" y="49949"/>
                    <a:pt x="812800" y="76394"/>
                    <a:pt x="812800" y="103968"/>
                  </a:cubicBezTo>
                  <a:lnTo>
                    <a:pt x="812800" y="708832"/>
                  </a:lnTo>
                  <a:cubicBezTo>
                    <a:pt x="812800" y="736406"/>
                    <a:pt x="801846" y="762851"/>
                    <a:pt x="782348" y="782348"/>
                  </a:cubicBezTo>
                  <a:cubicBezTo>
                    <a:pt x="762851" y="801846"/>
                    <a:pt x="736406" y="812800"/>
                    <a:pt x="708832" y="812800"/>
                  </a:cubicBezTo>
                  <a:lnTo>
                    <a:pt x="103968" y="812800"/>
                  </a:lnTo>
                  <a:cubicBezTo>
                    <a:pt x="76394" y="812800"/>
                    <a:pt x="49949" y="801846"/>
                    <a:pt x="30452" y="782348"/>
                  </a:cubicBezTo>
                  <a:cubicBezTo>
                    <a:pt x="10954" y="762851"/>
                    <a:pt x="0" y="736406"/>
                    <a:pt x="0" y="708832"/>
                  </a:cubicBezTo>
                  <a:lnTo>
                    <a:pt x="0" y="103968"/>
                  </a:lnTo>
                  <a:cubicBezTo>
                    <a:pt x="0" y="76394"/>
                    <a:pt x="10954" y="49949"/>
                    <a:pt x="30452" y="30452"/>
                  </a:cubicBezTo>
                  <a:cubicBezTo>
                    <a:pt x="49949" y="10954"/>
                    <a:pt x="76394" y="0"/>
                    <a:pt x="103968" y="0"/>
                  </a:cubicBezTo>
                  <a:close/>
                </a:path>
              </a:pathLst>
            </a:custGeom>
            <a:solidFill>
              <a:srgbClr val="33326B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774194" y="4379963"/>
            <a:ext cx="14557607" cy="3806252"/>
            <a:chOff x="0" y="0"/>
            <a:chExt cx="4574349" cy="119601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574349" cy="1196016"/>
            </a:xfrm>
            <a:custGeom>
              <a:avLst/>
              <a:gdLst/>
              <a:ahLst/>
              <a:cxnLst/>
              <a:rect r="r" b="b" t="t" l="l"/>
              <a:pathLst>
                <a:path h="1196016" w="4574349">
                  <a:moveTo>
                    <a:pt x="7445" y="0"/>
                  </a:moveTo>
                  <a:lnTo>
                    <a:pt x="4566904" y="0"/>
                  </a:lnTo>
                  <a:cubicBezTo>
                    <a:pt x="4571016" y="0"/>
                    <a:pt x="4574349" y="3333"/>
                    <a:pt x="4574349" y="7445"/>
                  </a:cubicBezTo>
                  <a:lnTo>
                    <a:pt x="4574349" y="1188570"/>
                  </a:lnTo>
                  <a:cubicBezTo>
                    <a:pt x="4574349" y="1190545"/>
                    <a:pt x="4573565" y="1192439"/>
                    <a:pt x="4572169" y="1193835"/>
                  </a:cubicBezTo>
                  <a:cubicBezTo>
                    <a:pt x="4570773" y="1195231"/>
                    <a:pt x="4568879" y="1196016"/>
                    <a:pt x="4566904" y="1196016"/>
                  </a:cubicBezTo>
                  <a:lnTo>
                    <a:pt x="7445" y="1196016"/>
                  </a:lnTo>
                  <a:cubicBezTo>
                    <a:pt x="3333" y="1196016"/>
                    <a:pt x="0" y="1192682"/>
                    <a:pt x="0" y="1188570"/>
                  </a:cubicBezTo>
                  <a:lnTo>
                    <a:pt x="0" y="7445"/>
                  </a:lnTo>
                  <a:cubicBezTo>
                    <a:pt x="0" y="3333"/>
                    <a:pt x="3333" y="0"/>
                    <a:pt x="744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" cap="sq">
              <a:solidFill>
                <a:srgbClr val="195759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4574349" cy="12436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4408815" y="5316706"/>
            <a:ext cx="9599467" cy="2199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24"/>
              </a:lnSpc>
            </a:pPr>
            <a:r>
              <a:rPr lang="en-US" b="true" sz="16237" spc="519">
                <a:solidFill>
                  <a:srgbClr val="01003B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GRACIAS 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9222" t="-4461" r="-20094" b="-4717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-10782321" y="4902386"/>
            <a:ext cx="24012912" cy="7628483"/>
            <a:chOff x="0" y="0"/>
            <a:chExt cx="6324388" cy="200914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24388" cy="2009148"/>
            </a:xfrm>
            <a:custGeom>
              <a:avLst/>
              <a:gdLst/>
              <a:ahLst/>
              <a:cxnLst/>
              <a:rect r="r" b="b" t="t" l="l"/>
              <a:pathLst>
                <a:path h="2009148" w="6324388">
                  <a:moveTo>
                    <a:pt x="0" y="0"/>
                  </a:moveTo>
                  <a:lnTo>
                    <a:pt x="6324388" y="0"/>
                  </a:lnTo>
                  <a:lnTo>
                    <a:pt x="6324388" y="2009148"/>
                  </a:lnTo>
                  <a:lnTo>
                    <a:pt x="0" y="2009148"/>
                  </a:lnTo>
                  <a:close/>
                </a:path>
              </a:pathLst>
            </a:custGeom>
            <a:solidFill>
              <a:srgbClr val="19575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6324388" cy="20567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8100000">
            <a:off x="16119176" y="1722797"/>
            <a:ext cx="2103985" cy="210398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51515" y="0"/>
                  </a:moveTo>
                  <a:lnTo>
                    <a:pt x="761285" y="0"/>
                  </a:lnTo>
                  <a:cubicBezTo>
                    <a:pt x="789736" y="0"/>
                    <a:pt x="812800" y="23064"/>
                    <a:pt x="812800" y="51515"/>
                  </a:cubicBezTo>
                  <a:lnTo>
                    <a:pt x="812800" y="761285"/>
                  </a:lnTo>
                  <a:cubicBezTo>
                    <a:pt x="812800" y="789736"/>
                    <a:pt x="789736" y="812800"/>
                    <a:pt x="761285" y="812800"/>
                  </a:cubicBezTo>
                  <a:lnTo>
                    <a:pt x="51515" y="812800"/>
                  </a:lnTo>
                  <a:cubicBezTo>
                    <a:pt x="23064" y="812800"/>
                    <a:pt x="0" y="789736"/>
                    <a:pt x="0" y="761285"/>
                  </a:cubicBezTo>
                  <a:lnTo>
                    <a:pt x="0" y="51515"/>
                  </a:lnTo>
                  <a:cubicBezTo>
                    <a:pt x="0" y="23064"/>
                    <a:pt x="23064" y="0"/>
                    <a:pt x="5151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8CFAE">
                    <a:alpha val="100000"/>
                  </a:srgbClr>
                </a:gs>
                <a:gs pos="100000">
                  <a:srgbClr val="006D83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8100000">
            <a:off x="13520930" y="-3509309"/>
            <a:ext cx="4742111" cy="4742111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22856" y="0"/>
                  </a:moveTo>
                  <a:lnTo>
                    <a:pt x="789944" y="0"/>
                  </a:lnTo>
                  <a:cubicBezTo>
                    <a:pt x="796006" y="0"/>
                    <a:pt x="801819" y="2408"/>
                    <a:pt x="806106" y="6694"/>
                  </a:cubicBezTo>
                  <a:cubicBezTo>
                    <a:pt x="810392" y="10981"/>
                    <a:pt x="812800" y="16794"/>
                    <a:pt x="812800" y="22856"/>
                  </a:cubicBezTo>
                  <a:lnTo>
                    <a:pt x="812800" y="789944"/>
                  </a:lnTo>
                  <a:cubicBezTo>
                    <a:pt x="812800" y="796006"/>
                    <a:pt x="810392" y="801819"/>
                    <a:pt x="806106" y="806106"/>
                  </a:cubicBezTo>
                  <a:cubicBezTo>
                    <a:pt x="801819" y="810392"/>
                    <a:pt x="796006" y="812800"/>
                    <a:pt x="789944" y="812800"/>
                  </a:cubicBezTo>
                  <a:lnTo>
                    <a:pt x="22856" y="812800"/>
                  </a:lnTo>
                  <a:cubicBezTo>
                    <a:pt x="16794" y="812800"/>
                    <a:pt x="10981" y="810392"/>
                    <a:pt x="6694" y="806106"/>
                  </a:cubicBezTo>
                  <a:cubicBezTo>
                    <a:pt x="2408" y="801819"/>
                    <a:pt x="0" y="796006"/>
                    <a:pt x="0" y="789944"/>
                  </a:cubicBezTo>
                  <a:lnTo>
                    <a:pt x="0" y="22856"/>
                  </a:lnTo>
                  <a:cubicBezTo>
                    <a:pt x="0" y="16794"/>
                    <a:pt x="2408" y="10981"/>
                    <a:pt x="6694" y="6694"/>
                  </a:cubicBezTo>
                  <a:cubicBezTo>
                    <a:pt x="10981" y="2408"/>
                    <a:pt x="16794" y="0"/>
                    <a:pt x="2285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8CFAE">
                    <a:alpha val="100000"/>
                  </a:srgbClr>
                </a:gs>
                <a:gs pos="100000">
                  <a:srgbClr val="006D83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-2700000">
            <a:off x="18312959" y="-1232802"/>
            <a:ext cx="4742111" cy="4742111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22856" y="0"/>
                  </a:moveTo>
                  <a:lnTo>
                    <a:pt x="789944" y="0"/>
                  </a:lnTo>
                  <a:cubicBezTo>
                    <a:pt x="796006" y="0"/>
                    <a:pt x="801819" y="2408"/>
                    <a:pt x="806106" y="6694"/>
                  </a:cubicBezTo>
                  <a:cubicBezTo>
                    <a:pt x="810392" y="10981"/>
                    <a:pt x="812800" y="16794"/>
                    <a:pt x="812800" y="22856"/>
                  </a:cubicBezTo>
                  <a:lnTo>
                    <a:pt x="812800" y="789944"/>
                  </a:lnTo>
                  <a:cubicBezTo>
                    <a:pt x="812800" y="796006"/>
                    <a:pt x="810392" y="801819"/>
                    <a:pt x="806106" y="806106"/>
                  </a:cubicBezTo>
                  <a:cubicBezTo>
                    <a:pt x="801819" y="810392"/>
                    <a:pt x="796006" y="812800"/>
                    <a:pt x="789944" y="812800"/>
                  </a:cubicBezTo>
                  <a:lnTo>
                    <a:pt x="22856" y="812800"/>
                  </a:lnTo>
                  <a:cubicBezTo>
                    <a:pt x="16794" y="812800"/>
                    <a:pt x="10981" y="810392"/>
                    <a:pt x="6694" y="806106"/>
                  </a:cubicBezTo>
                  <a:cubicBezTo>
                    <a:pt x="2408" y="801819"/>
                    <a:pt x="0" y="796006"/>
                    <a:pt x="0" y="789944"/>
                  </a:cubicBezTo>
                  <a:lnTo>
                    <a:pt x="0" y="22856"/>
                  </a:lnTo>
                  <a:cubicBezTo>
                    <a:pt x="0" y="16794"/>
                    <a:pt x="2408" y="10981"/>
                    <a:pt x="6694" y="6694"/>
                  </a:cubicBezTo>
                  <a:cubicBezTo>
                    <a:pt x="10981" y="2408"/>
                    <a:pt x="16794" y="0"/>
                    <a:pt x="2285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8CFAE">
                    <a:alpha val="100000"/>
                  </a:srgbClr>
                </a:gs>
                <a:gs pos="100000">
                  <a:srgbClr val="006D8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-8100000">
            <a:off x="16677587" y="644672"/>
            <a:ext cx="987162" cy="987162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09796" y="0"/>
                  </a:moveTo>
                  <a:lnTo>
                    <a:pt x="703004" y="0"/>
                  </a:lnTo>
                  <a:cubicBezTo>
                    <a:pt x="732123" y="0"/>
                    <a:pt x="760051" y="11568"/>
                    <a:pt x="780641" y="32159"/>
                  </a:cubicBezTo>
                  <a:cubicBezTo>
                    <a:pt x="801232" y="52749"/>
                    <a:pt x="812800" y="80677"/>
                    <a:pt x="812800" y="109796"/>
                  </a:cubicBezTo>
                  <a:lnTo>
                    <a:pt x="812800" y="703004"/>
                  </a:lnTo>
                  <a:cubicBezTo>
                    <a:pt x="812800" y="732123"/>
                    <a:pt x="801232" y="760051"/>
                    <a:pt x="780641" y="780641"/>
                  </a:cubicBezTo>
                  <a:cubicBezTo>
                    <a:pt x="760051" y="801232"/>
                    <a:pt x="732123" y="812800"/>
                    <a:pt x="703004" y="812800"/>
                  </a:cubicBezTo>
                  <a:lnTo>
                    <a:pt x="109796" y="812800"/>
                  </a:lnTo>
                  <a:cubicBezTo>
                    <a:pt x="80677" y="812800"/>
                    <a:pt x="52749" y="801232"/>
                    <a:pt x="32159" y="780641"/>
                  </a:cubicBezTo>
                  <a:cubicBezTo>
                    <a:pt x="11568" y="760051"/>
                    <a:pt x="0" y="732123"/>
                    <a:pt x="0" y="703004"/>
                  </a:cubicBezTo>
                  <a:lnTo>
                    <a:pt x="0" y="109796"/>
                  </a:lnTo>
                  <a:cubicBezTo>
                    <a:pt x="0" y="80677"/>
                    <a:pt x="11568" y="52749"/>
                    <a:pt x="32159" y="32159"/>
                  </a:cubicBezTo>
                  <a:cubicBezTo>
                    <a:pt x="52749" y="11568"/>
                    <a:pt x="80677" y="0"/>
                    <a:pt x="109796" y="0"/>
                  </a:cubicBezTo>
                  <a:close/>
                </a:path>
              </a:pathLst>
            </a:custGeom>
            <a:solidFill>
              <a:srgbClr val="33326B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714796" y="556575"/>
            <a:ext cx="16858409" cy="1077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40"/>
              </a:lnSpc>
            </a:pPr>
            <a:r>
              <a:rPr lang="en-US" b="true" sz="8000" spc="256">
                <a:solidFill>
                  <a:srgbClr val="01003B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ENLACES A DOCUMENTOS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281588" y="2396965"/>
            <a:ext cx="7724825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1003B"/>
                </a:solidFill>
                <a:latin typeface="Be Vietnam"/>
                <a:ea typeface="Be Vietnam"/>
                <a:cs typeface="Be Vietnam"/>
                <a:sym typeface="Be Vietnam"/>
              </a:rPr>
              <a:t>Kanban: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281588" y="3583081"/>
            <a:ext cx="7724825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1003B"/>
                </a:solidFill>
                <a:latin typeface="Be Vietnam"/>
                <a:ea typeface="Be Vietnam"/>
                <a:cs typeface="Be Vietnam"/>
                <a:sym typeface="Be Vietnam"/>
              </a:rPr>
              <a:t>Backlog: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281588" y="5024532"/>
            <a:ext cx="7724825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1003B"/>
                </a:solidFill>
                <a:latin typeface="Be Vietnam"/>
                <a:ea typeface="Be Vietnam"/>
                <a:cs typeface="Be Vietnam"/>
                <a:sym typeface="Be Vietnam"/>
              </a:rPr>
              <a:t>Manual de usuario: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281588" y="6465982"/>
            <a:ext cx="7724825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1003B"/>
                </a:solidFill>
                <a:latin typeface="Be Vietnam"/>
                <a:ea typeface="Be Vietnam"/>
                <a:cs typeface="Be Vietnam"/>
                <a:sym typeface="Be Vietnam"/>
              </a:rPr>
              <a:t>Caja Blanca: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281588" y="7650257"/>
            <a:ext cx="7724825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1003B"/>
                </a:solidFill>
                <a:latin typeface="Be Vietnam"/>
                <a:ea typeface="Be Vietnam"/>
                <a:cs typeface="Be Vietnam"/>
                <a:sym typeface="Be Vietnam"/>
              </a:rPr>
              <a:t>Caja Negra: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9222" t="-4461" r="-20094" b="-4717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-10782321" y="4902386"/>
            <a:ext cx="24012912" cy="7628483"/>
            <a:chOff x="0" y="0"/>
            <a:chExt cx="6324388" cy="200914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24388" cy="2009148"/>
            </a:xfrm>
            <a:custGeom>
              <a:avLst/>
              <a:gdLst/>
              <a:ahLst/>
              <a:cxnLst/>
              <a:rect r="r" b="b" t="t" l="l"/>
              <a:pathLst>
                <a:path h="2009148" w="6324388">
                  <a:moveTo>
                    <a:pt x="0" y="0"/>
                  </a:moveTo>
                  <a:lnTo>
                    <a:pt x="6324388" y="0"/>
                  </a:lnTo>
                  <a:lnTo>
                    <a:pt x="6324388" y="2009148"/>
                  </a:lnTo>
                  <a:lnTo>
                    <a:pt x="0" y="2009148"/>
                  </a:lnTo>
                  <a:close/>
                </a:path>
              </a:pathLst>
            </a:custGeom>
            <a:solidFill>
              <a:srgbClr val="19575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6324388" cy="20567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8100000">
            <a:off x="16119176" y="1722797"/>
            <a:ext cx="2103985" cy="210398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51515" y="0"/>
                  </a:moveTo>
                  <a:lnTo>
                    <a:pt x="761285" y="0"/>
                  </a:lnTo>
                  <a:cubicBezTo>
                    <a:pt x="789736" y="0"/>
                    <a:pt x="812800" y="23064"/>
                    <a:pt x="812800" y="51515"/>
                  </a:cubicBezTo>
                  <a:lnTo>
                    <a:pt x="812800" y="761285"/>
                  </a:lnTo>
                  <a:cubicBezTo>
                    <a:pt x="812800" y="789736"/>
                    <a:pt x="789736" y="812800"/>
                    <a:pt x="761285" y="812800"/>
                  </a:cubicBezTo>
                  <a:lnTo>
                    <a:pt x="51515" y="812800"/>
                  </a:lnTo>
                  <a:cubicBezTo>
                    <a:pt x="23064" y="812800"/>
                    <a:pt x="0" y="789736"/>
                    <a:pt x="0" y="761285"/>
                  </a:cubicBezTo>
                  <a:lnTo>
                    <a:pt x="0" y="51515"/>
                  </a:lnTo>
                  <a:cubicBezTo>
                    <a:pt x="0" y="23064"/>
                    <a:pt x="23064" y="0"/>
                    <a:pt x="5151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8CFAE">
                    <a:alpha val="100000"/>
                  </a:srgbClr>
                </a:gs>
                <a:gs pos="100000">
                  <a:srgbClr val="006D83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8100000">
            <a:off x="13520930" y="-3509309"/>
            <a:ext cx="4742111" cy="4742111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22856" y="0"/>
                  </a:moveTo>
                  <a:lnTo>
                    <a:pt x="789944" y="0"/>
                  </a:lnTo>
                  <a:cubicBezTo>
                    <a:pt x="796006" y="0"/>
                    <a:pt x="801819" y="2408"/>
                    <a:pt x="806106" y="6694"/>
                  </a:cubicBezTo>
                  <a:cubicBezTo>
                    <a:pt x="810392" y="10981"/>
                    <a:pt x="812800" y="16794"/>
                    <a:pt x="812800" y="22856"/>
                  </a:cubicBezTo>
                  <a:lnTo>
                    <a:pt x="812800" y="789944"/>
                  </a:lnTo>
                  <a:cubicBezTo>
                    <a:pt x="812800" y="796006"/>
                    <a:pt x="810392" y="801819"/>
                    <a:pt x="806106" y="806106"/>
                  </a:cubicBezTo>
                  <a:cubicBezTo>
                    <a:pt x="801819" y="810392"/>
                    <a:pt x="796006" y="812800"/>
                    <a:pt x="789944" y="812800"/>
                  </a:cubicBezTo>
                  <a:lnTo>
                    <a:pt x="22856" y="812800"/>
                  </a:lnTo>
                  <a:cubicBezTo>
                    <a:pt x="16794" y="812800"/>
                    <a:pt x="10981" y="810392"/>
                    <a:pt x="6694" y="806106"/>
                  </a:cubicBezTo>
                  <a:cubicBezTo>
                    <a:pt x="2408" y="801819"/>
                    <a:pt x="0" y="796006"/>
                    <a:pt x="0" y="789944"/>
                  </a:cubicBezTo>
                  <a:lnTo>
                    <a:pt x="0" y="22856"/>
                  </a:lnTo>
                  <a:cubicBezTo>
                    <a:pt x="0" y="16794"/>
                    <a:pt x="2408" y="10981"/>
                    <a:pt x="6694" y="6694"/>
                  </a:cubicBezTo>
                  <a:cubicBezTo>
                    <a:pt x="10981" y="2408"/>
                    <a:pt x="16794" y="0"/>
                    <a:pt x="2285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8CFAE">
                    <a:alpha val="100000"/>
                  </a:srgbClr>
                </a:gs>
                <a:gs pos="100000">
                  <a:srgbClr val="006D83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-2700000">
            <a:off x="18312959" y="-1232802"/>
            <a:ext cx="4742111" cy="4742111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22856" y="0"/>
                  </a:moveTo>
                  <a:lnTo>
                    <a:pt x="789944" y="0"/>
                  </a:lnTo>
                  <a:cubicBezTo>
                    <a:pt x="796006" y="0"/>
                    <a:pt x="801819" y="2408"/>
                    <a:pt x="806106" y="6694"/>
                  </a:cubicBezTo>
                  <a:cubicBezTo>
                    <a:pt x="810392" y="10981"/>
                    <a:pt x="812800" y="16794"/>
                    <a:pt x="812800" y="22856"/>
                  </a:cubicBezTo>
                  <a:lnTo>
                    <a:pt x="812800" y="789944"/>
                  </a:lnTo>
                  <a:cubicBezTo>
                    <a:pt x="812800" y="796006"/>
                    <a:pt x="810392" y="801819"/>
                    <a:pt x="806106" y="806106"/>
                  </a:cubicBezTo>
                  <a:cubicBezTo>
                    <a:pt x="801819" y="810392"/>
                    <a:pt x="796006" y="812800"/>
                    <a:pt x="789944" y="812800"/>
                  </a:cubicBezTo>
                  <a:lnTo>
                    <a:pt x="22856" y="812800"/>
                  </a:lnTo>
                  <a:cubicBezTo>
                    <a:pt x="16794" y="812800"/>
                    <a:pt x="10981" y="810392"/>
                    <a:pt x="6694" y="806106"/>
                  </a:cubicBezTo>
                  <a:cubicBezTo>
                    <a:pt x="2408" y="801819"/>
                    <a:pt x="0" y="796006"/>
                    <a:pt x="0" y="789944"/>
                  </a:cubicBezTo>
                  <a:lnTo>
                    <a:pt x="0" y="22856"/>
                  </a:lnTo>
                  <a:cubicBezTo>
                    <a:pt x="0" y="16794"/>
                    <a:pt x="2408" y="10981"/>
                    <a:pt x="6694" y="6694"/>
                  </a:cubicBezTo>
                  <a:cubicBezTo>
                    <a:pt x="10981" y="2408"/>
                    <a:pt x="16794" y="0"/>
                    <a:pt x="2285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8CFAE">
                    <a:alpha val="100000"/>
                  </a:srgbClr>
                </a:gs>
                <a:gs pos="100000">
                  <a:srgbClr val="006D8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-8100000">
            <a:off x="16677587" y="644672"/>
            <a:ext cx="987162" cy="987162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09796" y="0"/>
                  </a:moveTo>
                  <a:lnTo>
                    <a:pt x="703004" y="0"/>
                  </a:lnTo>
                  <a:cubicBezTo>
                    <a:pt x="732123" y="0"/>
                    <a:pt x="760051" y="11568"/>
                    <a:pt x="780641" y="32159"/>
                  </a:cubicBezTo>
                  <a:cubicBezTo>
                    <a:pt x="801232" y="52749"/>
                    <a:pt x="812800" y="80677"/>
                    <a:pt x="812800" y="109796"/>
                  </a:cubicBezTo>
                  <a:lnTo>
                    <a:pt x="812800" y="703004"/>
                  </a:lnTo>
                  <a:cubicBezTo>
                    <a:pt x="812800" y="732123"/>
                    <a:pt x="801232" y="760051"/>
                    <a:pt x="780641" y="780641"/>
                  </a:cubicBezTo>
                  <a:cubicBezTo>
                    <a:pt x="760051" y="801232"/>
                    <a:pt x="732123" y="812800"/>
                    <a:pt x="703004" y="812800"/>
                  </a:cubicBezTo>
                  <a:lnTo>
                    <a:pt x="109796" y="812800"/>
                  </a:lnTo>
                  <a:cubicBezTo>
                    <a:pt x="80677" y="812800"/>
                    <a:pt x="52749" y="801232"/>
                    <a:pt x="32159" y="780641"/>
                  </a:cubicBezTo>
                  <a:cubicBezTo>
                    <a:pt x="11568" y="760051"/>
                    <a:pt x="0" y="732123"/>
                    <a:pt x="0" y="703004"/>
                  </a:cubicBezTo>
                  <a:lnTo>
                    <a:pt x="0" y="109796"/>
                  </a:lnTo>
                  <a:cubicBezTo>
                    <a:pt x="0" y="80677"/>
                    <a:pt x="11568" y="52749"/>
                    <a:pt x="32159" y="32159"/>
                  </a:cubicBezTo>
                  <a:cubicBezTo>
                    <a:pt x="52749" y="11568"/>
                    <a:pt x="80677" y="0"/>
                    <a:pt x="109796" y="0"/>
                  </a:cubicBezTo>
                  <a:close/>
                </a:path>
              </a:pathLst>
            </a:custGeom>
            <a:solidFill>
              <a:srgbClr val="33326B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5400000">
            <a:off x="363143" y="2272881"/>
            <a:ext cx="7618566" cy="7502656"/>
            <a:chOff x="0" y="0"/>
            <a:chExt cx="2943163" cy="289838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943163" cy="2898386"/>
            </a:xfrm>
            <a:custGeom>
              <a:avLst/>
              <a:gdLst/>
              <a:ahLst/>
              <a:cxnLst/>
              <a:rect r="r" b="b" t="t" l="l"/>
              <a:pathLst>
                <a:path h="2898386" w="2943163">
                  <a:moveTo>
                    <a:pt x="14227" y="0"/>
                  </a:moveTo>
                  <a:lnTo>
                    <a:pt x="2928937" y="0"/>
                  </a:lnTo>
                  <a:cubicBezTo>
                    <a:pt x="2932710" y="0"/>
                    <a:pt x="2936328" y="1499"/>
                    <a:pt x="2938996" y="4167"/>
                  </a:cubicBezTo>
                  <a:cubicBezTo>
                    <a:pt x="2941664" y="6835"/>
                    <a:pt x="2943163" y="10454"/>
                    <a:pt x="2943163" y="14227"/>
                  </a:cubicBezTo>
                  <a:lnTo>
                    <a:pt x="2943163" y="2884159"/>
                  </a:lnTo>
                  <a:cubicBezTo>
                    <a:pt x="2943163" y="2887932"/>
                    <a:pt x="2941664" y="2891551"/>
                    <a:pt x="2938996" y="2894219"/>
                  </a:cubicBezTo>
                  <a:cubicBezTo>
                    <a:pt x="2936328" y="2896887"/>
                    <a:pt x="2932710" y="2898386"/>
                    <a:pt x="2928937" y="2898386"/>
                  </a:cubicBezTo>
                  <a:lnTo>
                    <a:pt x="14227" y="2898386"/>
                  </a:lnTo>
                  <a:cubicBezTo>
                    <a:pt x="10454" y="2898386"/>
                    <a:pt x="6835" y="2896887"/>
                    <a:pt x="4167" y="2894219"/>
                  </a:cubicBezTo>
                  <a:cubicBezTo>
                    <a:pt x="1499" y="2891551"/>
                    <a:pt x="0" y="2887932"/>
                    <a:pt x="0" y="2884159"/>
                  </a:cubicBezTo>
                  <a:lnTo>
                    <a:pt x="0" y="14227"/>
                  </a:lnTo>
                  <a:cubicBezTo>
                    <a:pt x="0" y="10454"/>
                    <a:pt x="1499" y="6835"/>
                    <a:pt x="4167" y="4167"/>
                  </a:cubicBezTo>
                  <a:cubicBezTo>
                    <a:pt x="6835" y="1499"/>
                    <a:pt x="10454" y="0"/>
                    <a:pt x="14227" y="0"/>
                  </a:cubicBezTo>
                  <a:close/>
                </a:path>
              </a:pathLst>
            </a:custGeom>
            <a:solidFill>
              <a:srgbClr val="FFFFFF"/>
            </a:solidFill>
            <a:ln w="104775" cap="sq">
              <a:solidFill>
                <a:srgbClr val="48CFAE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2943163" cy="29460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21" id="21">
            <a:hlinkClick r:id="rId4" tooltip="https://espe-team-f85h88la.atlassian.net/wiki/spaces/GMGDC/overview"/>
          </p:cNvPr>
          <p:cNvSpPr/>
          <p:nvPr/>
        </p:nvSpPr>
        <p:spPr>
          <a:xfrm flipH="false" flipV="false" rot="0">
            <a:off x="2565891" y="2655997"/>
            <a:ext cx="3213069" cy="3213069"/>
          </a:xfrm>
          <a:custGeom>
            <a:avLst/>
            <a:gdLst/>
            <a:ahLst/>
            <a:cxnLst/>
            <a:rect r="r" b="b" t="t" l="l"/>
            <a:pathLst>
              <a:path h="3213069" w="3213069">
                <a:moveTo>
                  <a:pt x="0" y="0"/>
                </a:moveTo>
                <a:lnTo>
                  <a:pt x="3213070" y="0"/>
                </a:lnTo>
                <a:lnTo>
                  <a:pt x="3213070" y="3213069"/>
                </a:lnTo>
                <a:lnTo>
                  <a:pt x="0" y="32130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2" id="22">
            <a:hlinkClick r:id="rId6" tooltip="https://espe-team-f85h88la.atlassian.net/jira/software/projects/SCRUM/boards/1"/>
          </p:cNvPr>
          <p:cNvSpPr/>
          <p:nvPr/>
        </p:nvSpPr>
        <p:spPr>
          <a:xfrm flipH="false" flipV="false" rot="0">
            <a:off x="1720164" y="6024209"/>
            <a:ext cx="4904524" cy="2942715"/>
          </a:xfrm>
          <a:custGeom>
            <a:avLst/>
            <a:gdLst/>
            <a:ahLst/>
            <a:cxnLst/>
            <a:rect r="r" b="b" t="t" l="l"/>
            <a:pathLst>
              <a:path h="2942715" w="4904524">
                <a:moveTo>
                  <a:pt x="0" y="0"/>
                </a:moveTo>
                <a:lnTo>
                  <a:pt x="4904524" y="0"/>
                </a:lnTo>
                <a:lnTo>
                  <a:pt x="4904524" y="2942714"/>
                </a:lnTo>
                <a:lnTo>
                  <a:pt x="0" y="29427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472426" y="540171"/>
            <a:ext cx="16858409" cy="211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40"/>
              </a:lnSpc>
            </a:pPr>
            <a:r>
              <a:rPr lang="en-US" b="true" sz="8000" spc="256">
                <a:solidFill>
                  <a:srgbClr val="01003B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LINKS DEL CONFLUENCE Y DEL JIRA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171529" y="3872280"/>
            <a:ext cx="6910407" cy="1535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80"/>
              </a:lnSpc>
            </a:pPr>
            <a:r>
              <a:rPr lang="en-US" b="true" sz="4414" u="sng">
                <a:solidFill>
                  <a:srgbClr val="01003B"/>
                </a:solidFill>
                <a:latin typeface="Open Sans Bold"/>
                <a:ea typeface="Open Sans Bold"/>
                <a:cs typeface="Open Sans Bold"/>
                <a:sym typeface="Open Sans Bold"/>
                <a:hlinkClick r:id="rId7" tooltip="https://docs.google.com/spreadsheets/d/1jfnKVG45wGdtmWYqe_DCzuwmo5bayzSzI_mx2AjzOtw/edit?gid=1334552321#gid=1334552321"/>
              </a:rPr>
              <a:t>LINKS DE HISTORIA DE USUARIO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002130" y="7081625"/>
            <a:ext cx="5681216" cy="1490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53"/>
              </a:lnSpc>
            </a:pPr>
            <a:r>
              <a:rPr lang="en-US" b="true" sz="4324" u="sng">
                <a:solidFill>
                  <a:srgbClr val="01003B"/>
                </a:solidFill>
                <a:latin typeface="Open Sans Bold"/>
                <a:ea typeface="Open Sans Bold"/>
                <a:cs typeface="Open Sans Bold"/>
                <a:sym typeface="Open Sans Bold"/>
                <a:hlinkClick r:id="rId8" tooltip="https://github.com/Kevinkh18/29022_G3_METDSW/blob/main/PREGAME/1.4%20ACTAS%20DE%20REUNION/Links%20de%20los%20videos.pdf"/>
              </a:rPr>
              <a:t>LINK DE  TODOS LOS </a:t>
            </a:r>
          </a:p>
          <a:p>
            <a:pPr algn="ctr">
              <a:lnSpc>
                <a:spcPts val="6053"/>
              </a:lnSpc>
            </a:pPr>
            <a:r>
              <a:rPr lang="en-US" b="true" sz="4324" u="sng">
                <a:solidFill>
                  <a:srgbClr val="01003B"/>
                </a:solidFill>
                <a:latin typeface="Open Sans Bold"/>
                <a:ea typeface="Open Sans Bold"/>
                <a:cs typeface="Open Sans Bold"/>
                <a:sym typeface="Open Sans Bold"/>
                <a:hlinkClick r:id="rId9" tooltip="https://github.com/Kevinkh18/29022_G3_METDSW/blob/main/PREGAME/1.4%20ACTAS%20DE%20REUNION/Links%20de%20los%20videos.pdf"/>
              </a:rPr>
              <a:t>VIDEOS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9222" t="-4461" r="-20094" b="-471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366947" y="7809723"/>
            <a:ext cx="1292709" cy="1292709"/>
          </a:xfrm>
          <a:custGeom>
            <a:avLst/>
            <a:gdLst/>
            <a:ahLst/>
            <a:cxnLst/>
            <a:rect r="r" b="b" t="t" l="l"/>
            <a:pathLst>
              <a:path h="1292709" w="1292709">
                <a:moveTo>
                  <a:pt x="0" y="0"/>
                </a:moveTo>
                <a:lnTo>
                  <a:pt x="1292709" y="0"/>
                </a:lnTo>
                <a:lnTo>
                  <a:pt x="1292709" y="1292709"/>
                </a:lnTo>
                <a:lnTo>
                  <a:pt x="0" y="12927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138198" y="7975500"/>
            <a:ext cx="1207287" cy="1207287"/>
          </a:xfrm>
          <a:custGeom>
            <a:avLst/>
            <a:gdLst/>
            <a:ahLst/>
            <a:cxnLst/>
            <a:rect r="r" b="b" t="t" l="l"/>
            <a:pathLst>
              <a:path h="1207287" w="1207287">
                <a:moveTo>
                  <a:pt x="0" y="0"/>
                </a:moveTo>
                <a:lnTo>
                  <a:pt x="1207287" y="0"/>
                </a:lnTo>
                <a:lnTo>
                  <a:pt x="1207287" y="1207287"/>
                </a:lnTo>
                <a:lnTo>
                  <a:pt x="0" y="120728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906306" y="4791041"/>
            <a:ext cx="1241136" cy="1207287"/>
          </a:xfrm>
          <a:custGeom>
            <a:avLst/>
            <a:gdLst/>
            <a:ahLst/>
            <a:cxnLst/>
            <a:rect r="r" b="b" t="t" l="l"/>
            <a:pathLst>
              <a:path h="1207287" w="1241136">
                <a:moveTo>
                  <a:pt x="0" y="0"/>
                </a:moveTo>
                <a:lnTo>
                  <a:pt x="1241136" y="0"/>
                </a:lnTo>
                <a:lnTo>
                  <a:pt x="1241136" y="1207287"/>
                </a:lnTo>
                <a:lnTo>
                  <a:pt x="0" y="120728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922133" y="6317437"/>
            <a:ext cx="1161190" cy="1207287"/>
          </a:xfrm>
          <a:custGeom>
            <a:avLst/>
            <a:gdLst/>
            <a:ahLst/>
            <a:cxnLst/>
            <a:rect r="r" b="b" t="t" l="l"/>
            <a:pathLst>
              <a:path h="1207287" w="1161190">
                <a:moveTo>
                  <a:pt x="0" y="0"/>
                </a:moveTo>
                <a:lnTo>
                  <a:pt x="1161190" y="0"/>
                </a:lnTo>
                <a:lnTo>
                  <a:pt x="1161190" y="1207287"/>
                </a:lnTo>
                <a:lnTo>
                  <a:pt x="0" y="120728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970424" y="7975500"/>
            <a:ext cx="1112899" cy="1207287"/>
          </a:xfrm>
          <a:custGeom>
            <a:avLst/>
            <a:gdLst/>
            <a:ahLst/>
            <a:cxnLst/>
            <a:rect r="r" b="b" t="t" l="l"/>
            <a:pathLst>
              <a:path h="1207287" w="1112899">
                <a:moveTo>
                  <a:pt x="0" y="0"/>
                </a:moveTo>
                <a:lnTo>
                  <a:pt x="1112899" y="0"/>
                </a:lnTo>
                <a:lnTo>
                  <a:pt x="1112899" y="1207287"/>
                </a:lnTo>
                <a:lnTo>
                  <a:pt x="0" y="120728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720988" y="3164120"/>
            <a:ext cx="933000" cy="1383154"/>
          </a:xfrm>
          <a:custGeom>
            <a:avLst/>
            <a:gdLst/>
            <a:ahLst/>
            <a:cxnLst/>
            <a:rect r="r" b="b" t="t" l="l"/>
            <a:pathLst>
              <a:path h="1383154" w="933000">
                <a:moveTo>
                  <a:pt x="0" y="0"/>
                </a:moveTo>
                <a:lnTo>
                  <a:pt x="933000" y="0"/>
                </a:lnTo>
                <a:lnTo>
                  <a:pt x="933000" y="1383153"/>
                </a:lnTo>
                <a:lnTo>
                  <a:pt x="0" y="138315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633875" y="4982589"/>
            <a:ext cx="1257059" cy="1021646"/>
          </a:xfrm>
          <a:custGeom>
            <a:avLst/>
            <a:gdLst/>
            <a:ahLst/>
            <a:cxnLst/>
            <a:rect r="r" b="b" t="t" l="l"/>
            <a:pathLst>
              <a:path h="1021646" w="1257059">
                <a:moveTo>
                  <a:pt x="0" y="0"/>
                </a:moveTo>
                <a:lnTo>
                  <a:pt x="1257059" y="0"/>
                </a:lnTo>
                <a:lnTo>
                  <a:pt x="1257059" y="1021647"/>
                </a:lnTo>
                <a:lnTo>
                  <a:pt x="0" y="1021647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576067" y="6323345"/>
            <a:ext cx="1314867" cy="1207287"/>
          </a:xfrm>
          <a:custGeom>
            <a:avLst/>
            <a:gdLst/>
            <a:ahLst/>
            <a:cxnLst/>
            <a:rect r="r" b="b" t="t" l="l"/>
            <a:pathLst>
              <a:path h="1207287" w="1314867">
                <a:moveTo>
                  <a:pt x="0" y="0"/>
                </a:moveTo>
                <a:lnTo>
                  <a:pt x="1314867" y="0"/>
                </a:lnTo>
                <a:lnTo>
                  <a:pt x="1314867" y="1207287"/>
                </a:lnTo>
                <a:lnTo>
                  <a:pt x="0" y="1207287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084568" y="3099968"/>
            <a:ext cx="836321" cy="1207287"/>
          </a:xfrm>
          <a:custGeom>
            <a:avLst/>
            <a:gdLst/>
            <a:ahLst/>
            <a:cxnLst/>
            <a:rect r="r" b="b" t="t" l="l"/>
            <a:pathLst>
              <a:path h="1207287" w="836321">
                <a:moveTo>
                  <a:pt x="0" y="0"/>
                </a:moveTo>
                <a:lnTo>
                  <a:pt x="836320" y="0"/>
                </a:lnTo>
                <a:lnTo>
                  <a:pt x="836320" y="1207287"/>
                </a:lnTo>
                <a:lnTo>
                  <a:pt x="0" y="1207287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655997" y="7938858"/>
            <a:ext cx="1207287" cy="1207287"/>
          </a:xfrm>
          <a:custGeom>
            <a:avLst/>
            <a:gdLst/>
            <a:ahLst/>
            <a:cxnLst/>
            <a:rect r="r" b="b" t="t" l="l"/>
            <a:pathLst>
              <a:path h="1207287" w="1207287">
                <a:moveTo>
                  <a:pt x="0" y="0"/>
                </a:moveTo>
                <a:lnTo>
                  <a:pt x="1207287" y="0"/>
                </a:lnTo>
                <a:lnTo>
                  <a:pt x="1207287" y="1207287"/>
                </a:lnTo>
                <a:lnTo>
                  <a:pt x="0" y="1207287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244687" y="7938858"/>
            <a:ext cx="878027" cy="1207287"/>
          </a:xfrm>
          <a:custGeom>
            <a:avLst/>
            <a:gdLst/>
            <a:ahLst/>
            <a:cxnLst/>
            <a:rect r="r" b="b" t="t" l="l"/>
            <a:pathLst>
              <a:path h="1207287" w="878027">
                <a:moveTo>
                  <a:pt x="0" y="0"/>
                </a:moveTo>
                <a:lnTo>
                  <a:pt x="878027" y="0"/>
                </a:lnTo>
                <a:lnTo>
                  <a:pt x="878027" y="1207287"/>
                </a:lnTo>
                <a:lnTo>
                  <a:pt x="0" y="1207287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594633" y="7938858"/>
            <a:ext cx="1238820" cy="1207287"/>
          </a:xfrm>
          <a:custGeom>
            <a:avLst/>
            <a:gdLst/>
            <a:ahLst/>
            <a:cxnLst/>
            <a:rect r="r" b="b" t="t" l="l"/>
            <a:pathLst>
              <a:path h="1207287" w="1238820">
                <a:moveTo>
                  <a:pt x="0" y="0"/>
                </a:moveTo>
                <a:lnTo>
                  <a:pt x="1238820" y="0"/>
                </a:lnTo>
                <a:lnTo>
                  <a:pt x="1238820" y="1207287"/>
                </a:lnTo>
                <a:lnTo>
                  <a:pt x="0" y="1207287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5107331" y="6185764"/>
            <a:ext cx="1322725" cy="1207287"/>
          </a:xfrm>
          <a:custGeom>
            <a:avLst/>
            <a:gdLst/>
            <a:ahLst/>
            <a:cxnLst/>
            <a:rect r="r" b="b" t="t" l="l"/>
            <a:pathLst>
              <a:path h="1207287" w="1322725">
                <a:moveTo>
                  <a:pt x="0" y="0"/>
                </a:moveTo>
                <a:lnTo>
                  <a:pt x="1322725" y="0"/>
                </a:lnTo>
                <a:lnTo>
                  <a:pt x="1322725" y="1207287"/>
                </a:lnTo>
                <a:lnTo>
                  <a:pt x="0" y="1207287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3551015" y="6280795"/>
            <a:ext cx="1312268" cy="1207287"/>
          </a:xfrm>
          <a:custGeom>
            <a:avLst/>
            <a:gdLst/>
            <a:ahLst/>
            <a:cxnLst/>
            <a:rect r="r" b="b" t="t" l="l"/>
            <a:pathLst>
              <a:path h="1207287" w="1312268">
                <a:moveTo>
                  <a:pt x="0" y="0"/>
                </a:moveTo>
                <a:lnTo>
                  <a:pt x="1312269" y="0"/>
                </a:lnTo>
                <a:lnTo>
                  <a:pt x="1312269" y="1207287"/>
                </a:lnTo>
                <a:lnTo>
                  <a:pt x="0" y="1207287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2003230" y="6280795"/>
            <a:ext cx="1097534" cy="1207287"/>
          </a:xfrm>
          <a:custGeom>
            <a:avLst/>
            <a:gdLst/>
            <a:ahLst/>
            <a:cxnLst/>
            <a:rect r="r" b="b" t="t" l="l"/>
            <a:pathLst>
              <a:path h="1207287" w="1097534">
                <a:moveTo>
                  <a:pt x="0" y="0"/>
                </a:moveTo>
                <a:lnTo>
                  <a:pt x="1097533" y="0"/>
                </a:lnTo>
                <a:lnTo>
                  <a:pt x="1097533" y="1207287"/>
                </a:lnTo>
                <a:lnTo>
                  <a:pt x="0" y="1207287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0460664" y="6412461"/>
            <a:ext cx="1207287" cy="1207287"/>
          </a:xfrm>
          <a:custGeom>
            <a:avLst/>
            <a:gdLst/>
            <a:ahLst/>
            <a:cxnLst/>
            <a:rect r="r" b="b" t="t" l="l"/>
            <a:pathLst>
              <a:path h="1207287" w="1207287">
                <a:moveTo>
                  <a:pt x="0" y="0"/>
                </a:moveTo>
                <a:lnTo>
                  <a:pt x="1207287" y="0"/>
                </a:lnTo>
                <a:lnTo>
                  <a:pt x="1207287" y="1207287"/>
                </a:lnTo>
                <a:lnTo>
                  <a:pt x="0" y="1207287"/>
                </a:lnTo>
                <a:lnTo>
                  <a:pt x="0" y="0"/>
                </a:lnTo>
                <a:close/>
              </a:path>
            </a:pathLst>
          </a:custGeom>
          <a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8710065" y="7965591"/>
            <a:ext cx="1104678" cy="1292709"/>
          </a:xfrm>
          <a:custGeom>
            <a:avLst/>
            <a:gdLst/>
            <a:ahLst/>
            <a:cxnLst/>
            <a:rect r="r" b="b" t="t" l="l"/>
            <a:pathLst>
              <a:path h="1292709" w="1104678">
                <a:moveTo>
                  <a:pt x="0" y="0"/>
                </a:moveTo>
                <a:lnTo>
                  <a:pt x="1104678" y="0"/>
                </a:lnTo>
                <a:lnTo>
                  <a:pt x="1104678" y="1292709"/>
                </a:lnTo>
                <a:lnTo>
                  <a:pt x="0" y="1292709"/>
                </a:lnTo>
                <a:lnTo>
                  <a:pt x="0" y="0"/>
                </a:lnTo>
                <a:close/>
              </a:path>
            </a:pathLst>
          </a:custGeom>
          <a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0460664" y="4754399"/>
            <a:ext cx="1174361" cy="1207287"/>
          </a:xfrm>
          <a:custGeom>
            <a:avLst/>
            <a:gdLst/>
            <a:ahLst/>
            <a:cxnLst/>
            <a:rect r="r" b="b" t="t" l="l"/>
            <a:pathLst>
              <a:path h="1207287" w="1174361">
                <a:moveTo>
                  <a:pt x="0" y="0"/>
                </a:moveTo>
                <a:lnTo>
                  <a:pt x="1174361" y="0"/>
                </a:lnTo>
                <a:lnTo>
                  <a:pt x="1174361" y="1207286"/>
                </a:lnTo>
                <a:lnTo>
                  <a:pt x="0" y="1207286"/>
                </a:lnTo>
                <a:lnTo>
                  <a:pt x="0" y="0"/>
                </a:lnTo>
                <a:close/>
              </a:path>
            </a:pathLst>
          </a:custGeom>
          <a:blipFill>
            <a:blip r:embed="rId37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2038351" y="4754399"/>
            <a:ext cx="1084363" cy="1207287"/>
          </a:xfrm>
          <a:custGeom>
            <a:avLst/>
            <a:gdLst/>
            <a:ahLst/>
            <a:cxnLst/>
            <a:rect r="r" b="b" t="t" l="l"/>
            <a:pathLst>
              <a:path h="1207287" w="1084363">
                <a:moveTo>
                  <a:pt x="0" y="0"/>
                </a:moveTo>
                <a:lnTo>
                  <a:pt x="1084363" y="0"/>
                </a:lnTo>
                <a:lnTo>
                  <a:pt x="1084363" y="1207286"/>
                </a:lnTo>
                <a:lnTo>
                  <a:pt x="0" y="1207286"/>
                </a:lnTo>
                <a:lnTo>
                  <a:pt x="0" y="0"/>
                </a:lnTo>
                <a:close/>
              </a:path>
            </a:pathLst>
          </a:custGeom>
          <a:blipFill>
            <a:blip r:embed="rId39"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3641578" y="4754399"/>
            <a:ext cx="1084363" cy="1207287"/>
          </a:xfrm>
          <a:custGeom>
            <a:avLst/>
            <a:gdLst/>
            <a:ahLst/>
            <a:cxnLst/>
            <a:rect r="r" b="b" t="t" l="l"/>
            <a:pathLst>
              <a:path h="1207287" w="1084363">
                <a:moveTo>
                  <a:pt x="0" y="0"/>
                </a:moveTo>
                <a:lnTo>
                  <a:pt x="1084363" y="0"/>
                </a:lnTo>
                <a:lnTo>
                  <a:pt x="1084363" y="1207286"/>
                </a:lnTo>
                <a:lnTo>
                  <a:pt x="0" y="1207286"/>
                </a:lnTo>
                <a:lnTo>
                  <a:pt x="0" y="0"/>
                </a:lnTo>
                <a:close/>
              </a:path>
            </a:pathLst>
          </a:custGeom>
          <a:blipFill>
            <a:blip r:embed="rId41">
              <a:extLst>
                <a:ext uri="{96DAC541-7B7A-43D3-8B79-37D633B846F1}">
                  <asvg:svgBlip xmlns:asvg="http://schemas.microsoft.com/office/drawing/2016/SVG/main" r:embed="rId4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5065227" y="4762062"/>
            <a:ext cx="1101924" cy="1207287"/>
          </a:xfrm>
          <a:custGeom>
            <a:avLst/>
            <a:gdLst/>
            <a:ahLst/>
            <a:cxnLst/>
            <a:rect r="r" b="b" t="t" l="l"/>
            <a:pathLst>
              <a:path h="1207287" w="1101924">
                <a:moveTo>
                  <a:pt x="0" y="0"/>
                </a:moveTo>
                <a:lnTo>
                  <a:pt x="1101924" y="0"/>
                </a:lnTo>
                <a:lnTo>
                  <a:pt x="1101924" y="1207286"/>
                </a:lnTo>
                <a:lnTo>
                  <a:pt x="0" y="1207286"/>
                </a:lnTo>
                <a:lnTo>
                  <a:pt x="0" y="0"/>
                </a:lnTo>
                <a:close/>
              </a:path>
            </a:pathLst>
          </a:custGeom>
          <a:blipFill>
            <a:blip r:embed="rId43">
              <a:extLst>
                <a:ext uri="{96DAC541-7B7A-43D3-8B79-37D633B846F1}">
                  <asvg:svgBlip xmlns:asvg="http://schemas.microsoft.com/office/drawing/2016/SVG/main" r:embed="rId4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3670114" y="3122283"/>
            <a:ext cx="1055827" cy="1207287"/>
          </a:xfrm>
          <a:custGeom>
            <a:avLst/>
            <a:gdLst/>
            <a:ahLst/>
            <a:cxnLst/>
            <a:rect r="r" b="b" t="t" l="l"/>
            <a:pathLst>
              <a:path h="1207287" w="1055827">
                <a:moveTo>
                  <a:pt x="0" y="0"/>
                </a:moveTo>
                <a:lnTo>
                  <a:pt x="1055827" y="0"/>
                </a:lnTo>
                <a:lnTo>
                  <a:pt x="1055827" y="1207287"/>
                </a:lnTo>
                <a:lnTo>
                  <a:pt x="0" y="1207287"/>
                </a:lnTo>
                <a:lnTo>
                  <a:pt x="0" y="0"/>
                </a:lnTo>
                <a:close/>
              </a:path>
            </a:pathLst>
          </a:custGeom>
          <a:blipFill>
            <a:blip r:embed="rId45">
              <a:extLst>
                <a:ext uri="{96DAC541-7B7A-43D3-8B79-37D633B846F1}">
                  <asvg:svgBlip xmlns:asvg="http://schemas.microsoft.com/office/drawing/2016/SVG/main" r:embed="rId4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4992714" y="3099968"/>
            <a:ext cx="1289336" cy="1207287"/>
          </a:xfrm>
          <a:custGeom>
            <a:avLst/>
            <a:gdLst/>
            <a:ahLst/>
            <a:cxnLst/>
            <a:rect r="r" b="b" t="t" l="l"/>
            <a:pathLst>
              <a:path h="1207287" w="1289336">
                <a:moveTo>
                  <a:pt x="0" y="0"/>
                </a:moveTo>
                <a:lnTo>
                  <a:pt x="1289335" y="0"/>
                </a:lnTo>
                <a:lnTo>
                  <a:pt x="1289335" y="1207287"/>
                </a:lnTo>
                <a:lnTo>
                  <a:pt x="0" y="1207287"/>
                </a:lnTo>
                <a:lnTo>
                  <a:pt x="0" y="0"/>
                </a:lnTo>
                <a:close/>
              </a:path>
            </a:pathLst>
          </a:custGeom>
          <a:blipFill>
            <a:blip r:embed="rId47">
              <a:extLst>
                <a:ext uri="{96DAC541-7B7A-43D3-8B79-37D633B846F1}">
                  <asvg:svgBlip xmlns:asvg="http://schemas.microsoft.com/office/drawing/2016/SVG/main" r:embed="rId4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0424334" y="3164120"/>
            <a:ext cx="985585" cy="1207287"/>
          </a:xfrm>
          <a:custGeom>
            <a:avLst/>
            <a:gdLst/>
            <a:ahLst/>
            <a:cxnLst/>
            <a:rect r="r" b="b" t="t" l="l"/>
            <a:pathLst>
              <a:path h="1207287" w="985585">
                <a:moveTo>
                  <a:pt x="0" y="0"/>
                </a:moveTo>
                <a:lnTo>
                  <a:pt x="985585" y="0"/>
                </a:lnTo>
                <a:lnTo>
                  <a:pt x="985585" y="1207287"/>
                </a:lnTo>
                <a:lnTo>
                  <a:pt x="0" y="1207287"/>
                </a:lnTo>
                <a:lnTo>
                  <a:pt x="0" y="0"/>
                </a:lnTo>
                <a:close/>
              </a:path>
            </a:pathLst>
          </a:custGeom>
          <a:blipFill>
            <a:blip r:embed="rId49">
              <a:extLst>
                <a:ext uri="{96DAC541-7B7A-43D3-8B79-37D633B846F1}">
                  <asvg:svgBlip xmlns:asvg="http://schemas.microsoft.com/office/drawing/2016/SVG/main" r:embed="rId5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2038351" y="3099968"/>
            <a:ext cx="1027291" cy="1207287"/>
          </a:xfrm>
          <a:custGeom>
            <a:avLst/>
            <a:gdLst/>
            <a:ahLst/>
            <a:cxnLst/>
            <a:rect r="r" b="b" t="t" l="l"/>
            <a:pathLst>
              <a:path h="1207287" w="1027291">
                <a:moveTo>
                  <a:pt x="0" y="0"/>
                </a:moveTo>
                <a:lnTo>
                  <a:pt x="1027291" y="0"/>
                </a:lnTo>
                <a:lnTo>
                  <a:pt x="1027291" y="1207287"/>
                </a:lnTo>
                <a:lnTo>
                  <a:pt x="0" y="1207287"/>
                </a:lnTo>
                <a:lnTo>
                  <a:pt x="0" y="0"/>
                </a:lnTo>
                <a:close/>
              </a:path>
            </a:pathLst>
          </a:custGeom>
          <a:blipFill>
            <a:blip r:embed="rId51">
              <a:extLst>
                <a:ext uri="{96DAC541-7B7A-43D3-8B79-37D633B846F1}">
                  <asvg:svgBlip xmlns:asvg="http://schemas.microsoft.com/office/drawing/2016/SVG/main" r:embed="rId5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3288181" y="6194372"/>
            <a:ext cx="1371475" cy="1351527"/>
          </a:xfrm>
          <a:custGeom>
            <a:avLst/>
            <a:gdLst/>
            <a:ahLst/>
            <a:cxnLst/>
            <a:rect r="r" b="b" t="t" l="l"/>
            <a:pathLst>
              <a:path h="1351527" w="1371475">
                <a:moveTo>
                  <a:pt x="0" y="0"/>
                </a:moveTo>
                <a:lnTo>
                  <a:pt x="1371475" y="0"/>
                </a:lnTo>
                <a:lnTo>
                  <a:pt x="1371475" y="1351526"/>
                </a:lnTo>
                <a:lnTo>
                  <a:pt x="0" y="1351526"/>
                </a:lnTo>
                <a:lnTo>
                  <a:pt x="0" y="0"/>
                </a:lnTo>
                <a:close/>
              </a:path>
            </a:pathLst>
          </a:custGeom>
          <a:blipFill>
            <a:blip r:embed="rId53">
              <a:extLst>
                <a:ext uri="{96DAC541-7B7A-43D3-8B79-37D633B846F1}">
                  <asvg:svgBlip xmlns:asvg="http://schemas.microsoft.com/office/drawing/2016/SVG/main" r:embed="rId5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3460665" y="4667975"/>
            <a:ext cx="1245872" cy="1401288"/>
          </a:xfrm>
          <a:custGeom>
            <a:avLst/>
            <a:gdLst/>
            <a:ahLst/>
            <a:cxnLst/>
            <a:rect r="r" b="b" t="t" l="l"/>
            <a:pathLst>
              <a:path h="1401288" w="1245872">
                <a:moveTo>
                  <a:pt x="0" y="0"/>
                </a:moveTo>
                <a:lnTo>
                  <a:pt x="1245873" y="0"/>
                </a:lnTo>
                <a:lnTo>
                  <a:pt x="1245873" y="1401288"/>
                </a:lnTo>
                <a:lnTo>
                  <a:pt x="0" y="1401288"/>
                </a:lnTo>
                <a:lnTo>
                  <a:pt x="0" y="0"/>
                </a:lnTo>
                <a:close/>
              </a:path>
            </a:pathLst>
          </a:custGeom>
          <a:blipFill>
            <a:blip r:embed="rId55">
              <a:extLst>
                <a:ext uri="{96DAC541-7B7A-43D3-8B79-37D633B846F1}">
                  <asvg:svgBlip xmlns:asvg="http://schemas.microsoft.com/office/drawing/2016/SVG/main" r:embed="rId5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3366947" y="3077696"/>
            <a:ext cx="1340603" cy="1340603"/>
          </a:xfrm>
          <a:custGeom>
            <a:avLst/>
            <a:gdLst/>
            <a:ahLst/>
            <a:cxnLst/>
            <a:rect r="r" b="b" t="t" l="l"/>
            <a:pathLst>
              <a:path h="1340603" w="1340603">
                <a:moveTo>
                  <a:pt x="0" y="0"/>
                </a:moveTo>
                <a:lnTo>
                  <a:pt x="1340604" y="0"/>
                </a:lnTo>
                <a:lnTo>
                  <a:pt x="1340604" y="1340603"/>
                </a:lnTo>
                <a:lnTo>
                  <a:pt x="0" y="1340603"/>
                </a:lnTo>
                <a:lnTo>
                  <a:pt x="0" y="0"/>
                </a:lnTo>
                <a:close/>
              </a:path>
            </a:pathLst>
          </a:custGeom>
          <a:blipFill>
            <a:blip r:embed="rId57">
              <a:extLst>
                <a:ext uri="{96DAC541-7B7A-43D3-8B79-37D633B846F1}">
                  <asvg:svgBlip xmlns:asvg="http://schemas.microsoft.com/office/drawing/2016/SVG/main" r:embed="rId5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831402" y="7897801"/>
            <a:ext cx="1091962" cy="1108080"/>
          </a:xfrm>
          <a:custGeom>
            <a:avLst/>
            <a:gdLst/>
            <a:ahLst/>
            <a:cxnLst/>
            <a:rect r="r" b="b" t="t" l="l"/>
            <a:pathLst>
              <a:path h="1108080" w="1091962">
                <a:moveTo>
                  <a:pt x="0" y="0"/>
                </a:moveTo>
                <a:lnTo>
                  <a:pt x="1091963" y="0"/>
                </a:lnTo>
                <a:lnTo>
                  <a:pt x="1091963" y="1108079"/>
                </a:lnTo>
                <a:lnTo>
                  <a:pt x="0" y="1108079"/>
                </a:lnTo>
                <a:lnTo>
                  <a:pt x="0" y="0"/>
                </a:lnTo>
                <a:close/>
              </a:path>
            </a:pathLst>
          </a:custGeom>
          <a:blipFill>
            <a:blip r:embed="rId59">
              <a:extLst>
                <a:ext uri="{96DAC541-7B7A-43D3-8B79-37D633B846F1}">
                  <asvg:svgBlip xmlns:asvg="http://schemas.microsoft.com/office/drawing/2016/SVG/main" r:embed="rId6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730735" y="6326037"/>
            <a:ext cx="1336012" cy="1358238"/>
          </a:xfrm>
          <a:custGeom>
            <a:avLst/>
            <a:gdLst/>
            <a:ahLst/>
            <a:cxnLst/>
            <a:rect r="r" b="b" t="t" l="l"/>
            <a:pathLst>
              <a:path h="1358238" w="1336012">
                <a:moveTo>
                  <a:pt x="0" y="0"/>
                </a:moveTo>
                <a:lnTo>
                  <a:pt x="1336012" y="0"/>
                </a:lnTo>
                <a:lnTo>
                  <a:pt x="1336012" y="1358238"/>
                </a:lnTo>
                <a:lnTo>
                  <a:pt x="0" y="1358238"/>
                </a:lnTo>
                <a:lnTo>
                  <a:pt x="0" y="0"/>
                </a:lnTo>
                <a:close/>
              </a:path>
            </a:pathLst>
          </a:custGeom>
          <a:blipFill>
            <a:blip r:embed="rId61">
              <a:extLst>
                <a:ext uri="{96DAC541-7B7A-43D3-8B79-37D633B846F1}">
                  <asvg:svgBlip xmlns:asvg="http://schemas.microsoft.com/office/drawing/2016/SVG/main" r:embed="rId6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831402" y="3231867"/>
            <a:ext cx="902935" cy="1257251"/>
          </a:xfrm>
          <a:custGeom>
            <a:avLst/>
            <a:gdLst/>
            <a:ahLst/>
            <a:cxnLst/>
            <a:rect r="r" b="b" t="t" l="l"/>
            <a:pathLst>
              <a:path h="1257251" w="902935">
                <a:moveTo>
                  <a:pt x="0" y="0"/>
                </a:moveTo>
                <a:lnTo>
                  <a:pt x="902935" y="0"/>
                </a:lnTo>
                <a:lnTo>
                  <a:pt x="902935" y="1257251"/>
                </a:lnTo>
                <a:lnTo>
                  <a:pt x="0" y="1257251"/>
                </a:lnTo>
                <a:lnTo>
                  <a:pt x="0" y="0"/>
                </a:lnTo>
                <a:close/>
              </a:path>
            </a:pathLst>
          </a:custGeom>
          <a:blipFill>
            <a:blip r:embed="rId63">
              <a:extLst>
                <a:ext uri="{96DAC541-7B7A-43D3-8B79-37D633B846F1}">
                  <asvg:svgBlip xmlns:asvg="http://schemas.microsoft.com/office/drawing/2016/SVG/main" r:embed="rId6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788004" y="4873106"/>
            <a:ext cx="1178759" cy="1196157"/>
          </a:xfrm>
          <a:custGeom>
            <a:avLst/>
            <a:gdLst/>
            <a:ahLst/>
            <a:cxnLst/>
            <a:rect r="r" b="b" t="t" l="l"/>
            <a:pathLst>
              <a:path h="1196157" w="1178759">
                <a:moveTo>
                  <a:pt x="0" y="0"/>
                </a:moveTo>
                <a:lnTo>
                  <a:pt x="1178759" y="0"/>
                </a:lnTo>
                <a:lnTo>
                  <a:pt x="1178759" y="1196157"/>
                </a:lnTo>
                <a:lnTo>
                  <a:pt x="0" y="1196157"/>
                </a:lnTo>
                <a:lnTo>
                  <a:pt x="0" y="0"/>
                </a:lnTo>
                <a:close/>
              </a:path>
            </a:pathLst>
          </a:custGeom>
          <a:blipFill>
            <a:blip r:embed="rId65">
              <a:extLst>
                <a:ext uri="{96DAC541-7B7A-43D3-8B79-37D633B846F1}">
                  <asvg:svgBlip xmlns:asvg="http://schemas.microsoft.com/office/drawing/2016/SVG/main" r:embed="rId6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15312739" y="6185764"/>
            <a:ext cx="1196604" cy="1196604"/>
          </a:xfrm>
          <a:custGeom>
            <a:avLst/>
            <a:gdLst/>
            <a:ahLst/>
            <a:cxnLst/>
            <a:rect r="r" b="b" t="t" l="l"/>
            <a:pathLst>
              <a:path h="1196604" w="1196604">
                <a:moveTo>
                  <a:pt x="0" y="0"/>
                </a:moveTo>
                <a:lnTo>
                  <a:pt x="1196604" y="0"/>
                </a:lnTo>
                <a:lnTo>
                  <a:pt x="1196604" y="1196604"/>
                </a:lnTo>
                <a:lnTo>
                  <a:pt x="0" y="1196604"/>
                </a:lnTo>
                <a:lnTo>
                  <a:pt x="0" y="0"/>
                </a:lnTo>
                <a:close/>
              </a:path>
            </a:pathLst>
          </a:custGeom>
          <a:blipFill>
            <a:blip r:embed="rId67">
              <a:extLst>
                <a:ext uri="{96DAC541-7B7A-43D3-8B79-37D633B846F1}">
                  <asvg:svgBlip xmlns:asvg="http://schemas.microsoft.com/office/drawing/2016/SVG/main" r:embed="rId6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5211716" y="4489118"/>
            <a:ext cx="1345549" cy="1328424"/>
          </a:xfrm>
          <a:custGeom>
            <a:avLst/>
            <a:gdLst/>
            <a:ahLst/>
            <a:cxnLst/>
            <a:rect r="r" b="b" t="t" l="l"/>
            <a:pathLst>
              <a:path h="1328424" w="1345549">
                <a:moveTo>
                  <a:pt x="0" y="0"/>
                </a:moveTo>
                <a:lnTo>
                  <a:pt x="1345549" y="0"/>
                </a:lnTo>
                <a:lnTo>
                  <a:pt x="1345549" y="1328424"/>
                </a:lnTo>
                <a:lnTo>
                  <a:pt x="0" y="1328424"/>
                </a:lnTo>
                <a:lnTo>
                  <a:pt x="0" y="0"/>
                </a:lnTo>
                <a:close/>
              </a:path>
            </a:pathLst>
          </a:custGeom>
          <a:blipFill>
            <a:blip r:embed="rId69">
              <a:extLst>
                <a:ext uri="{96DAC541-7B7A-43D3-8B79-37D633B846F1}">
                  <asvg:svgBlip xmlns:asvg="http://schemas.microsoft.com/office/drawing/2016/SVG/main" r:embed="rId7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5354591" y="3077696"/>
            <a:ext cx="1112899" cy="1207287"/>
          </a:xfrm>
          <a:custGeom>
            <a:avLst/>
            <a:gdLst/>
            <a:ahLst/>
            <a:cxnLst/>
            <a:rect r="r" b="b" t="t" l="l"/>
            <a:pathLst>
              <a:path h="1207287" w="1112899">
                <a:moveTo>
                  <a:pt x="0" y="0"/>
                </a:moveTo>
                <a:lnTo>
                  <a:pt x="1112899" y="0"/>
                </a:lnTo>
                <a:lnTo>
                  <a:pt x="1112899" y="1207287"/>
                </a:lnTo>
                <a:lnTo>
                  <a:pt x="0" y="120728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8" id="38"/>
          <p:cNvSpPr/>
          <p:nvPr/>
        </p:nvSpPr>
        <p:spPr>
          <a:xfrm flipH="true">
            <a:off x="3105" y="2488671"/>
            <a:ext cx="18545818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9" id="39"/>
          <p:cNvSpPr/>
          <p:nvPr/>
        </p:nvSpPr>
        <p:spPr>
          <a:xfrm flipH="false" flipV="false" rot="0">
            <a:off x="15396684" y="7858949"/>
            <a:ext cx="1112659" cy="1112659"/>
          </a:xfrm>
          <a:custGeom>
            <a:avLst/>
            <a:gdLst/>
            <a:ahLst/>
            <a:cxnLst/>
            <a:rect r="r" b="b" t="t" l="l"/>
            <a:pathLst>
              <a:path h="1112659" w="1112659">
                <a:moveTo>
                  <a:pt x="0" y="0"/>
                </a:moveTo>
                <a:lnTo>
                  <a:pt x="1112659" y="0"/>
                </a:lnTo>
                <a:lnTo>
                  <a:pt x="1112659" y="1112659"/>
                </a:lnTo>
                <a:lnTo>
                  <a:pt x="0" y="1112659"/>
                </a:lnTo>
                <a:lnTo>
                  <a:pt x="0" y="0"/>
                </a:lnTo>
                <a:close/>
              </a:path>
            </a:pathLst>
          </a:custGeom>
          <a:blipFill>
            <a:blip r:embed="rId71">
              <a:extLst>
                <a:ext uri="{96DAC541-7B7A-43D3-8B79-37D633B846F1}">
                  <asvg:svgBlip xmlns:asvg="http://schemas.microsoft.com/office/drawing/2016/SVG/main" r:embed="rId7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0" id="40"/>
          <p:cNvSpPr txBox="true"/>
          <p:nvPr/>
        </p:nvSpPr>
        <p:spPr>
          <a:xfrm rot="0">
            <a:off x="4200043" y="1307571"/>
            <a:ext cx="10151941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450"/>
              </a:lnSpc>
            </a:pPr>
            <a:r>
              <a:rPr lang="en-US" b="true" sz="5000">
                <a:solidFill>
                  <a:srgbClr val="01003B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PÁGINA DE RECURSOS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DAG7PadCmOk</dc:identifier>
  <dcterms:modified xsi:type="dcterms:W3CDTF">2011-08-01T06:04:30Z</dcterms:modified>
  <cp:revision>1</cp:revision>
  <dc:title>PROYECTO FIDEVAL</dc:title>
</cp:coreProperties>
</file>